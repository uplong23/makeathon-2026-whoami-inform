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87" r:id="rId3"/>
    <p:sldId id="260" r:id="rId4"/>
    <p:sldId id="262" r:id="rId5"/>
    <p:sldId id="280" r:id="rId6"/>
    <p:sldId id="281" r:id="rId7"/>
    <p:sldId id="284" r:id="rId8"/>
    <p:sldId id="270" r:id="rId9"/>
    <p:sldId id="273" r:id="rId10"/>
    <p:sldId id="276" r:id="rId11"/>
    <p:sldId id="279" r:id="rId1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F84B30-6F98-940A-36AF-66AECD75A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98C09C23-6935-567E-1487-BF7B3C4AA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C543D57-75FD-87BE-6BD5-033DF40D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60C3616-C87B-DD30-8AEF-E7C5DA96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BB6ACB1-5F18-C490-A12A-7A8A91AB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7981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E5EBF77-CFEC-406E-097D-E11281F0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5DA28C1-7444-C6B2-CC61-7912A5AC3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5A126AA-CBBD-24E8-C6FB-E57679D3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6AD4906-B576-395B-6BF2-E8279409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2647B0EB-F3D5-8F73-84AF-D40A9226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0223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9138348-3297-5BB7-638E-4493602B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010BE14F-9AA4-C657-698A-DDE138CA2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15944B4-4F4C-A320-9D1E-1888FF0A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996E5E4-6D69-5C8E-D119-91E70F3E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7286B60-D2C1-DF95-243D-B839AD07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0900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C680E22-2B92-80EB-06C4-A0125872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5C775DF-5717-9ACB-FCB4-165E02931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7C051F2-4918-60A2-D88B-ABBAD6318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C6D02E07-D6C2-A2B2-846B-98CA04B19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0840EF4C-13E2-A789-564B-11CF04EF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0F677AB5-3E1F-91B5-AE6C-35752CD3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0627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8957572-C6CC-3AF2-57D8-B46F384F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B48CD43-90E3-BAEB-9C6A-43BE64123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988BB265-D67A-FDAA-2208-CBDA5E4F3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B33C9E58-1CA8-E05D-72E6-C41EA3AF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253AE52C-3787-7029-0D56-4980DA905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E820A6DB-142C-826F-D93C-F614D642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1C56AE41-8A7E-9A7B-93E7-B76E73FC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ACBE17D6-5FF9-A0D1-7CE6-35E8805D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7755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C70F6B5-44B8-F1D1-F7F2-8DCEABD3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44694092-A3A9-6CE4-717D-B455CC4F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3BD098C-7281-01A4-3FD3-2818AD8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FAD3F0E-4EE6-C027-92CE-746723A9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8666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98A4DE4D-23F3-FF9D-D34B-09625BC6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0FAFB59D-4DB5-AC9B-CE8D-4C0F6E7E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1BBFA14-20B0-C21C-EE31-879F4869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4750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F916A70-EA09-5CB6-0F9D-7803C037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BE67DBE-9A30-0EEC-9D8E-C810B3CF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7B8FCE6D-4EDB-618D-164E-162C89945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0705089-C749-9001-91CA-2C4FFDA1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2D426D0-4650-2A16-B01A-1DC2D203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DE30D4D7-5B1A-B70A-DB0D-3B659A95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2666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7727938-FF92-51E5-0E0C-7FF2E851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3B256B40-9A24-DCE4-BF5A-7EC006F02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CDAAD7DB-F8F2-A513-991F-AD6034AE5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74C5AA91-315E-58DE-D45D-E85752F7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6D9C246-01CF-92D3-02CA-7946B49E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C02F1810-46A4-2622-D264-D3A720E7D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4853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3CB0C27-765D-EA37-6B05-EB3743F5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17AD066-AA32-6B7F-E6BB-005DE4107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30088F5-8FB1-F9AA-7093-47724F6EE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5CAA715-CD0C-DD7F-9E96-897EC21D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06768A9-0D9B-690F-2086-B16F8B1C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8036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8FDA8507-6669-A96E-CB26-A15BDD18C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C1F5F78-7691-585C-2B7A-8E0EE7F0F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6D18D53-09A3-8A81-6C7E-F09B7165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449AE9E-B424-D69B-DA30-96D68C41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42A60C0-0B13-64F7-076A-B6C052E0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488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238"/>
            </a:gs>
            <a:gs pos="100000">
              <a:srgbClr val="07142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09B7658F-A23F-F584-3835-53043FB0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45C8CDE-F591-6768-C7E0-4DF8DA702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8D526F7-F290-45DF-C8C8-785C62940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611BC-FB3D-41AE-A715-FEE8858570FD}" type="datetimeFigureOut">
              <a:rPr lang="el-GR" smtClean="0"/>
              <a:t>15/5/2026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9492A8E-FE8F-C76F-34EB-B7F74CF38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2E5A39-5B1E-74E3-A1B4-0040DCC43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C0879-F5A8-466C-A7FE-57D8ED04921F}" type="slidenum">
              <a:rPr lang="el-GR" smtClean="0"/>
              <a:t>‹#›</a:t>
            </a:fld>
            <a:endParaRPr lang="el-GR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901" name="AccentDot"/>
          <p:cNvSpPr/>
          <p:nvPr userDrawn="1"/>
        </p:nvSpPr>
        <p:spPr>
          <a:xfrm>
            <a:off x="11800000" y="240000"/>
            <a:ext cx="180000" cy="18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370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6EEF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436A685-CD0A-4657-3AF8-85A837D18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l-GR" sz="6600" b="1" dirty="0">
                <a:solidFill>
                  <a:srgbClr val="FFFFFF"/>
                </a:solidFill>
              </a:rPr>
              <a:t>FinDoc </a:t>
            </a:r>
            <a:r>
              <a:rPr lang="el-GR" sz="6600" b="1" dirty="0">
                <a:solidFill>
                  <a:srgbClr val="2DD4BF"/>
                </a:solidFill>
              </a:rPr>
              <a:t>AI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D8601296-BF90-9465-33A2-5E4D49F91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Bef>
                <a:spcPts val="0"/>
              </a:spcBef>
              <a:buNone/>
            </a:pPr>
            <a:r>
              <a:rPr lang="el-GR" sz="2400" b="0" dirty="0">
                <a:solidFill>
                  <a:srgbClr val="E6EEF5"/>
                </a:solidFill>
              </a:rPr>
              <a:t>AI Agent για Q&amp;A σε Τιμολόγια &amp; Αποδείξεις</a:t>
            </a:r>
          </a:p>
          <a:p>
            <a:pPr algn="ctr">
              <a:spcBef>
                <a:spcPts val="600"/>
              </a:spcBef>
              <a:buNone/>
            </a:pPr>
            <a:r>
              <a:rPr lang="el-GR" sz="1600" b="1" spc="200" dirty="0">
                <a:solidFill>
                  <a:srgbClr val="2DD4BF"/>
                </a:solidFill>
              </a:rPr>
              <a:t>RAG-BASED  ·  NO HALLUCINATIONS  ·  BOUNDING-BOX AWARE</a:t>
            </a:r>
          </a:p>
        </p:txBody>
      </p:sp>
      <p:sp>
        <p:nvSpPr>
          <p:cNvPr id="50" name="Tag"/>
          <p:cNvSpPr/>
          <p:nvPr/>
        </p:nvSpPr>
        <p:spPr>
          <a:xfrm>
            <a:off x="5151120" y="4572000"/>
            <a:ext cx="229616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B1B2B"/>
                </a:solidFill>
              </a:rPr>
              <a:t>HACKATHON 2026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E5A5D483-672D-322B-9711-5743F5B9B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00" y="5575300"/>
            <a:ext cx="27940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3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D42F798-B345-3EEB-4D6B-82D14A11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Ποιοι είμαστε · </a:t>
            </a:r>
            <a:r>
              <a:rPr lang="en-US" sz="3600" b="1" dirty="0">
                <a:solidFill>
                  <a:srgbClr val="2DD4BF"/>
                </a:solidFill>
              </a:rPr>
              <a:t>CloudFin</a:t>
            </a:r>
          </a:p>
        </p:txBody>
      </p:sp>
      <p:sp>
        <p:nvSpPr>
          <p:cNvPr id="2001" name="txt2001"/>
          <p:cNvSpPr txBox="1"/>
          <p:nvPr/>
        </p:nvSpPr>
        <p:spPr>
          <a:xfrm>
            <a:off x="838200" y="1778000"/>
            <a:ext cx="105156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2DD4BF"/>
                </a:solidFill>
              </a:rPr>
              <a:t>CloudFin </a:t>
            </a:r>
            <a:r>
              <a:rPr lang="el-GR" sz="1800" dirty="0">
                <a:solidFill>
                  <a:srgbClr val="E6EEF5"/>
                </a:solidFill>
              </a:rPr>
              <a:t>είναι μια fintech εταιρία που αυτοματοποιεί τη διαχείριση τιμολογίων &amp; οικονομικών εγγράφων για επιχειρήσεις.</a:t>
            </a:r>
          </a:p>
        </p:txBody>
      </p:sp>
      <p:sp>
        <p:nvSpPr>
          <p:cNvPr id="2002" name="card2002"/>
          <p:cNvSpPr/>
          <p:nvPr/>
        </p:nvSpPr>
        <p:spPr>
          <a:xfrm>
            <a:off x="838200" y="2730500"/>
            <a:ext cx="5080000" cy="34925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2DD4BF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2003" name="txt2003"/>
          <p:cNvSpPr txBox="1"/>
          <p:nvPr/>
        </p:nvSpPr>
        <p:spPr>
          <a:xfrm>
            <a:off x="1143000" y="3009900"/>
            <a:ext cx="4470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l-GR" sz="1600" b="1" dirty="0">
                <a:solidFill>
                  <a:srgbClr val="2DD4BF"/>
                </a:solidFill>
              </a:rPr>
              <a:t>ΤΙ ΚΑΝΟΥΜΕ</a:t>
            </a:r>
          </a:p>
        </p:txBody>
      </p:sp>
      <p:sp>
        <p:nvSpPr>
          <p:cNvPr id="2004" name="txt2004"/>
          <p:cNvSpPr txBox="1"/>
          <p:nvPr/>
        </p:nvSpPr>
        <p:spPr>
          <a:xfrm>
            <a:off x="1143000" y="3517900"/>
            <a:ext cx="4470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l-GR" sz="1400" b="1" dirty="0">
                <a:solidFill>
                  <a:srgbClr val="FFFFFF"/>
                </a:solidFill>
              </a:rPr>
              <a:t>Ψηφιοποίηση  </a:t>
            </a:r>
            <a:r>
              <a:rPr lang="el-GR" sz="1400" dirty="0">
                <a:solidFill>
                  <a:srgbClr val="9FB6CC"/>
                </a:solidFill>
              </a:rPr>
              <a:t>· OCR &amp; data extraction από PDF/εικόνες</a:t>
            </a:r>
          </a:p>
        </p:txBody>
      </p:sp>
      <p:sp>
        <p:nvSpPr>
          <p:cNvPr id="2005" name="txt2005"/>
          <p:cNvSpPr txBox="1"/>
          <p:nvPr/>
        </p:nvSpPr>
        <p:spPr>
          <a:xfrm>
            <a:off x="1143000" y="4152900"/>
            <a:ext cx="4470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l-GR" sz="1400" b="1" dirty="0">
                <a:solidFill>
                  <a:srgbClr val="FFFFFF"/>
                </a:solidFill>
              </a:rPr>
              <a:t>Συμφωνία  </a:t>
            </a:r>
            <a:r>
              <a:rPr lang="el-GR" sz="1400" dirty="0">
                <a:solidFill>
                  <a:srgbClr val="9FB6CC"/>
                </a:solidFill>
              </a:rPr>
              <a:t>· Cross-check τιμολογίων με τραπεζικές κινήσεις</a:t>
            </a:r>
          </a:p>
        </p:txBody>
      </p:sp>
      <p:sp>
        <p:nvSpPr>
          <p:cNvPr id="2006" name="txt2006"/>
          <p:cNvSpPr txBox="1"/>
          <p:nvPr/>
        </p:nvSpPr>
        <p:spPr>
          <a:xfrm>
            <a:off x="1143000" y="4787900"/>
            <a:ext cx="4470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l-GR" sz="1400" b="1" dirty="0">
                <a:solidFill>
                  <a:srgbClr val="FFFFFF"/>
                </a:solidFill>
              </a:rPr>
              <a:t>Workflow  </a:t>
            </a:r>
            <a:r>
              <a:rPr lang="el-GR" sz="1400" dirty="0">
                <a:solidFill>
                  <a:srgbClr val="9FB6CC"/>
                </a:solidFill>
              </a:rPr>
              <a:t>· Approval flows &amp; παρακολούθηση πληρωμών</a:t>
            </a:r>
          </a:p>
        </p:txBody>
      </p:sp>
      <p:sp>
        <p:nvSpPr>
          <p:cNvPr id="2007" name="txt2007"/>
          <p:cNvSpPr txBox="1"/>
          <p:nvPr/>
        </p:nvSpPr>
        <p:spPr>
          <a:xfrm>
            <a:off x="1143000" y="5422900"/>
            <a:ext cx="4470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l-GR" sz="1400" b="1" dirty="0">
                <a:solidFill>
                  <a:srgbClr val="FFFFFF"/>
                </a:solidFill>
              </a:rPr>
              <a:t>Insights  </a:t>
            </a:r>
            <a:r>
              <a:rPr lang="el-GR" sz="1400" dirty="0">
                <a:solidFill>
                  <a:srgbClr val="9FB6CC"/>
                </a:solidFill>
              </a:rPr>
              <a:t>· Dashboards για cash flow &amp; προμηθευτές</a:t>
            </a:r>
          </a:p>
        </p:txBody>
      </p:sp>
      <p:sp>
        <p:nvSpPr>
          <p:cNvPr id="2008" name="card2008"/>
          <p:cNvSpPr/>
          <p:nvPr/>
        </p:nvSpPr>
        <p:spPr>
          <a:xfrm>
            <a:off x="6273800" y="2730500"/>
            <a:ext cx="5080000" cy="952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F59E0B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2009" name="txt2009"/>
          <p:cNvSpPr txBox="1"/>
          <p:nvPr/>
        </p:nvSpPr>
        <p:spPr>
          <a:xfrm>
            <a:off x="6527800" y="2730500"/>
            <a:ext cx="16510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F59E0B"/>
                </a:solidFill>
              </a:rPr>
              <a:t>100K+</a:t>
            </a:r>
          </a:p>
        </p:txBody>
      </p:sp>
      <p:sp>
        <p:nvSpPr>
          <p:cNvPr id="2010" name="txt2010"/>
          <p:cNvSpPr txBox="1"/>
          <p:nvPr/>
        </p:nvSpPr>
        <p:spPr>
          <a:xfrm>
            <a:off x="8305800" y="2730500"/>
            <a:ext cx="27940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dirty="0">
                <a:solidFill>
                  <a:srgbClr val="E6EEF5"/>
                </a:solidFill>
              </a:rPr>
              <a:t>τιμολόγια / μήνα</a:t>
            </a:r>
          </a:p>
        </p:txBody>
      </p:sp>
      <p:sp>
        <p:nvSpPr>
          <p:cNvPr id="2011" name="card2011"/>
          <p:cNvSpPr/>
          <p:nvPr/>
        </p:nvSpPr>
        <p:spPr>
          <a:xfrm>
            <a:off x="6273800" y="3784600"/>
            <a:ext cx="5080000" cy="952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60A5FA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2012" name="txt2012"/>
          <p:cNvSpPr txBox="1"/>
          <p:nvPr/>
        </p:nvSpPr>
        <p:spPr>
          <a:xfrm>
            <a:off x="6527800" y="3784600"/>
            <a:ext cx="16510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60A5FA"/>
                </a:solidFill>
              </a:rPr>
              <a:t>200+</a:t>
            </a:r>
          </a:p>
        </p:txBody>
      </p:sp>
      <p:sp>
        <p:nvSpPr>
          <p:cNvPr id="2013" name="txt2013"/>
          <p:cNvSpPr txBox="1"/>
          <p:nvPr/>
        </p:nvSpPr>
        <p:spPr>
          <a:xfrm>
            <a:off x="8305800" y="3784600"/>
            <a:ext cx="27940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dirty="0">
                <a:solidFill>
                  <a:srgbClr val="E6EEF5"/>
                </a:solidFill>
              </a:rPr>
              <a:t>πελάτες</a:t>
            </a:r>
          </a:p>
        </p:txBody>
      </p:sp>
      <p:sp>
        <p:nvSpPr>
          <p:cNvPr id="2014" name="card2014"/>
          <p:cNvSpPr/>
          <p:nvPr/>
        </p:nvSpPr>
        <p:spPr>
          <a:xfrm>
            <a:off x="6273800" y="4838700"/>
            <a:ext cx="5080000" cy="952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34D399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2015" name="txt2015"/>
          <p:cNvSpPr txBox="1"/>
          <p:nvPr/>
        </p:nvSpPr>
        <p:spPr>
          <a:xfrm>
            <a:off x="6527800" y="4838700"/>
            <a:ext cx="16510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34D399"/>
                </a:solidFill>
              </a:rPr>
              <a:t>90%</a:t>
            </a:r>
          </a:p>
        </p:txBody>
      </p:sp>
      <p:sp>
        <p:nvSpPr>
          <p:cNvPr id="2016" name="txt2016"/>
          <p:cNvSpPr txBox="1"/>
          <p:nvPr/>
        </p:nvSpPr>
        <p:spPr>
          <a:xfrm>
            <a:off x="8305800" y="4838700"/>
            <a:ext cx="27940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dirty="0">
                <a:solidFill>
                  <a:srgbClr val="E6EEF5"/>
                </a:solidFill>
              </a:rPr>
              <a:t>ακρίβεια εξαγωγής</a:t>
            </a:r>
          </a:p>
        </p:txBody>
      </p:sp>
      <p:sp>
        <p:nvSpPr>
          <p:cNvPr id="2017" name="txt2017"/>
          <p:cNvSpPr txBox="1"/>
          <p:nvPr/>
        </p:nvSpPr>
        <p:spPr>
          <a:xfrm>
            <a:off x="838200" y="64135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l-GR" sz="1400" i="1" dirty="0">
                <a:solidFill>
                  <a:srgbClr val="9FB6CC"/>
                </a:solidFill>
              </a:rPr>
              <a:t>Αποστολή: να εξαλείψουμε τη χειρωνακτική επεξεργασία οικονομικών εγγράφων.</a:t>
            </a:r>
          </a:p>
        </p:txBody>
      </p:sp>
    </p:spTree>
    <p:extLst>
      <p:ext uri="{BB962C8B-B14F-4D97-AF65-F5344CB8AC3E}">
        <p14:creationId xmlns:p14="http://schemas.microsoft.com/office/powerpoint/2010/main" val="3273148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B196092-957E-64E2-06CD-27A133E6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Το </a:t>
            </a:r>
            <a:r>
              <a:rPr lang="el-GR" sz="3600" b="1" dirty="0">
                <a:solidFill>
                  <a:srgbClr val="2DD4BF"/>
                </a:solidFill>
              </a:rPr>
              <a:t>Πρόβλημα</a:t>
            </a:r>
          </a:p>
        </p:txBody>
      </p:sp>
      <p:sp>
        <p:nvSpPr>
          <p:cNvPr id="100" name="Lede"/>
          <p:cNvSpPr/>
          <p:nvPr/>
        </p:nvSpPr>
        <p:spPr>
          <a:xfrm>
            <a:off x="838200" y="1778000"/>
            <a:ext cx="10515600" cy="762000"/>
          </a:xfrm>
          <a:prstGeom prst="rect">
            <a:avLst/>
          </a:prstGeom>
          <a:noFill/>
        </p:spPr>
        <p:txBody>
          <a:bodyPr wrap="square" lIns="0" tIns="0" anchor="t"/>
          <a:lstStyle/>
          <a:p>
            <a:pPr>
              <a:buNone/>
            </a:pPr>
            <a:r>
              <a:rPr lang="el-GR" sz="2000" b="0" dirty="0">
                <a:solidFill>
                  <a:srgbClr val="E6EEF5"/>
                </a:solidFill>
              </a:rPr>
              <a:t>Οι οικονομικές ομάδες </a:t>
            </a:r>
            <a:r>
              <a:rPr lang="el-GR" sz="2000" dirty="0">
                <a:solidFill>
                  <a:srgbClr val="E6EEF5"/>
                </a:solidFill>
              </a:rPr>
              <a:t>έχουν καθημερινά μεγάλο όγκο καταχώρησης</a:t>
            </a:r>
            <a:r>
              <a:rPr lang="el-GR" sz="2000" b="0" dirty="0">
                <a:solidFill>
                  <a:srgbClr val="E6EEF5"/>
                </a:solidFill>
              </a:rPr>
              <a:t> τιμολογίων και αποδείξεων που ως τώρα γινόταν με ανθρώπινο παράγοντα.</a:t>
            </a:r>
          </a:p>
        </p:txBody>
      </p:sp>
      <p:sp>
        <p:nvSpPr>
          <p:cNvPr id="110" name="Card110"/>
          <p:cNvSpPr/>
          <p:nvPr/>
        </p:nvSpPr>
        <p:spPr>
          <a:xfrm>
            <a:off x="838200" y="2921000"/>
            <a:ext cx="3251200" cy="29210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1E4368"/>
            </a:solidFill>
          </a:ln>
        </p:spPr>
        <p:txBody>
          <a:bodyPr wrap="square" lIns="180000" tIns="180000" rIns="180000" bIns="180000" anchor="ctr" anchorCtr="1"/>
          <a:lstStyle/>
          <a:p>
            <a:pPr algn="ctr">
              <a:buNone/>
            </a:pPr>
            <a:r>
              <a:rPr lang="el-GR" sz="5400" b="1" dirty="0">
                <a:solidFill>
                  <a:srgbClr val="2DD4BF"/>
                </a:solidFill>
              </a:rPr>
              <a:t>10+</a:t>
            </a:r>
          </a:p>
          <a:p>
            <a:pPr algn="ctr">
              <a:spcBef>
                <a:spcPts val="400"/>
              </a:spcBef>
              <a:buNone/>
            </a:pPr>
            <a:r>
              <a:rPr lang="el-GR" sz="1600" b="0" dirty="0">
                <a:solidFill>
                  <a:srgbClr val="E6EEF5"/>
                </a:solidFill>
              </a:rPr>
              <a:t>ώρες/εβδομάδα χάνονται σε χειροκίνητη επεξεργασία</a:t>
            </a:r>
          </a:p>
        </p:txBody>
      </p:sp>
      <p:sp>
        <p:nvSpPr>
          <p:cNvPr id="111" name="Card111"/>
          <p:cNvSpPr/>
          <p:nvPr/>
        </p:nvSpPr>
        <p:spPr>
          <a:xfrm>
            <a:off x="4470400" y="2921000"/>
            <a:ext cx="3251200" cy="29210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1E4368"/>
            </a:solidFill>
          </a:ln>
        </p:spPr>
        <p:txBody>
          <a:bodyPr wrap="square" lIns="180000" tIns="180000" rIns="180000" bIns="180000" anchor="ctr" anchorCtr="1"/>
          <a:lstStyle/>
          <a:p>
            <a:pPr algn="ctr">
              <a:buNone/>
            </a:pPr>
            <a:r>
              <a:rPr lang="el-GR" sz="5400" b="1" dirty="0">
                <a:solidFill>
                  <a:srgbClr val="F59E0B"/>
                </a:solidFill>
              </a:rPr>
              <a:t>30%</a:t>
            </a:r>
          </a:p>
          <a:p>
            <a:pPr algn="ctr">
              <a:spcBef>
                <a:spcPts val="400"/>
              </a:spcBef>
              <a:buNone/>
            </a:pPr>
            <a:r>
              <a:rPr lang="el-GR" sz="1600" b="0" dirty="0">
                <a:solidFill>
                  <a:srgbClr val="E6EEF5"/>
                </a:solidFill>
              </a:rPr>
              <a:t>λάθη σε εξαγωγή δεδομένων με κλασικό OCR</a:t>
            </a:r>
          </a:p>
        </p:txBody>
      </p:sp>
      <p:sp>
        <p:nvSpPr>
          <p:cNvPr id="112" name="Card112"/>
          <p:cNvSpPr/>
          <p:nvPr/>
        </p:nvSpPr>
        <p:spPr>
          <a:xfrm>
            <a:off x="8102600" y="2921000"/>
            <a:ext cx="3251200" cy="29210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1E4368"/>
            </a:solidFill>
          </a:ln>
        </p:spPr>
        <p:txBody>
          <a:bodyPr wrap="square" lIns="180000" tIns="180000" rIns="180000" bIns="180000" anchor="ctr" anchorCtr="1"/>
          <a:lstStyle/>
          <a:p>
            <a:pPr algn="ctr">
              <a:buNone/>
            </a:pPr>
            <a:r>
              <a:rPr lang="el-GR" sz="5400" b="1" dirty="0">
                <a:solidFill>
                  <a:srgbClr val="60A5FA"/>
                </a:solidFill>
              </a:rPr>
              <a:t>100s</a:t>
            </a:r>
          </a:p>
          <a:p>
            <a:pPr algn="ctr">
              <a:spcBef>
                <a:spcPts val="400"/>
              </a:spcBef>
              <a:buNone/>
            </a:pPr>
            <a:r>
              <a:rPr lang="el-GR" sz="1600" b="0" dirty="0">
                <a:solidFill>
                  <a:srgbClr val="E6EEF5"/>
                </a:solidFill>
              </a:rPr>
              <a:t>διαφορετικές μορφές τιμολογίων από κάθε προμηθευτή</a:t>
            </a:r>
          </a:p>
        </p:txBody>
      </p:sp>
      <p:sp>
        <p:nvSpPr>
          <p:cNvPr id="120" name="CTA"/>
          <p:cNvSpPr/>
          <p:nvPr/>
        </p:nvSpPr>
        <p:spPr>
          <a:xfrm>
            <a:off x="838200" y="6159500"/>
            <a:ext cx="10515600" cy="571500"/>
          </a:xfrm>
          <a:prstGeom prst="rect">
            <a:avLst/>
          </a:prstGeom>
          <a:noFill/>
        </p:spPr>
        <p:txBody>
          <a:bodyPr wrap="square" lIns="0" tIns="0" anchor="ctr"/>
          <a:lstStyle/>
          <a:p>
            <a:pPr algn="l">
              <a:buNone/>
            </a:pPr>
            <a:r>
              <a:rPr lang="el-GR" sz="1800" b="1" dirty="0">
                <a:solidFill>
                  <a:srgbClr val="F59E0B"/>
                </a:solidFill>
              </a:rPr>
              <a:t>⚠  </a:t>
            </a:r>
            <a:r>
              <a:rPr lang="el-GR" sz="1800" b="0" dirty="0">
                <a:solidFill>
                  <a:srgbClr val="E6EEF5"/>
                </a:solidFill>
              </a:rPr>
              <a:t>Τα υπάρχοντα OCR συστήματα δεν κατανοούν </a:t>
            </a:r>
            <a:r>
              <a:rPr lang="el-GR" sz="1800" b="1" dirty="0">
                <a:solidFill>
                  <a:srgbClr val="FFFFFF"/>
                </a:solidFill>
              </a:rPr>
              <a:t>πλαίσιο</a:t>
            </a:r>
            <a:r>
              <a:rPr lang="el-GR" sz="1800" b="0" dirty="0">
                <a:solidFill>
                  <a:srgbClr val="E6EEF5"/>
                </a:solidFill>
              </a:rPr>
              <a:t>. Χρειαζόμαστε έναν agent που να </a:t>
            </a:r>
            <a:r>
              <a:rPr lang="el-GR" sz="1800" b="1" dirty="0">
                <a:solidFill>
                  <a:srgbClr val="2DD4BF"/>
                </a:solidFill>
              </a:rPr>
              <a:t>καταλαβαίνει</a:t>
            </a:r>
            <a:r>
              <a:rPr lang="el-GR" sz="1800" b="0" dirty="0">
                <a:solidFill>
                  <a:srgbClr val="E6EEF5"/>
                </a:solidFill>
              </a:rPr>
              <a:t>, όχι μόνο να διαβάζει.</a:t>
            </a:r>
          </a:p>
        </p:txBody>
      </p:sp>
    </p:spTree>
    <p:extLst>
      <p:ext uri="{BB962C8B-B14F-4D97-AF65-F5344CB8AC3E}">
        <p14:creationId xmlns:p14="http://schemas.microsoft.com/office/powerpoint/2010/main" val="194711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0F79296-1F8B-2651-E3F2-0E5A7B1D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Η Λύση μας</a:t>
            </a:r>
          </a:p>
        </p:txBody>
      </p:sp>
      <p:sp>
        <p:nvSpPr>
          <p:cNvPr id="100" name="Lede"/>
          <p:cNvSpPr/>
          <p:nvPr/>
        </p:nvSpPr>
        <p:spPr>
          <a:xfrm>
            <a:off x="838200" y="1651000"/>
            <a:ext cx="10515600" cy="635000"/>
          </a:xfrm>
          <a:prstGeom prst="rect">
            <a:avLst/>
          </a:prstGeom>
          <a:noFill/>
        </p:spPr>
        <p:txBody>
          <a:bodyPr wrap="square" lIns="0" tIns="0" anchor="t"/>
          <a:lstStyle/>
          <a:p>
            <a:pPr>
              <a:buNone/>
            </a:pPr>
            <a:r>
              <a:rPr lang="el-GR" sz="2000" b="0" dirty="0">
                <a:solidFill>
                  <a:srgbClr val="E6EEF5"/>
                </a:solidFill>
              </a:rPr>
              <a:t>Ένας RAG-based AI Agent που απαντά </a:t>
            </a:r>
            <a:r>
              <a:rPr lang="el-GR" sz="2000" b="1" dirty="0">
                <a:solidFill>
                  <a:srgbClr val="2DD4BF"/>
                </a:solidFill>
              </a:rPr>
              <a:t>μόνο</a:t>
            </a:r>
            <a:r>
              <a:rPr lang="el-GR" sz="2000" b="0" dirty="0">
                <a:solidFill>
                  <a:srgbClr val="E6EEF5"/>
                </a:solidFill>
              </a:rPr>
              <a:t> από το περιεχόμενο των πραγματικών εγγράφων.</a:t>
            </a:r>
          </a:p>
        </p:txBody>
      </p:sp>
      <p:sp>
        <p:nvSpPr>
          <p:cNvPr id="200" name="Pillar200"/>
          <p:cNvSpPr/>
          <p:nvPr/>
        </p:nvSpPr>
        <p:spPr>
          <a:xfrm>
            <a:off x="838200" y="2540000"/>
            <a:ext cx="5105400" cy="1841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1E4368"/>
            </a:solidFill>
          </a:ln>
        </p:spPr>
        <p:txBody>
          <a:bodyPr wrap="square" lIns="200000" tIns="200000" rIns="200000" bIns="200000" anchor="t"/>
          <a:lstStyle/>
          <a:p>
            <a:pPr>
              <a:buNone/>
            </a:pPr>
            <a:r>
              <a:rPr lang="el-GR" sz="2400" b="1" dirty="0">
                <a:solidFill>
                  <a:srgbClr val="2DD4BF"/>
                </a:solidFill>
              </a:rPr>
              <a:t>01  Hybrid OCR + VLM</a:t>
            </a:r>
          </a:p>
          <a:p>
            <a:pPr>
              <a:spcBef>
                <a:spcPts val="500"/>
              </a:spcBef>
              <a:buNone/>
            </a:pPr>
            <a:r>
              <a:rPr lang="el-GR" sz="1600" b="0" dirty="0">
                <a:solidFill>
                  <a:srgbClr val="E6EEF5"/>
                </a:solidFill>
              </a:rPr>
              <a:t>Tesseract για κείμενο, Vision-Language model για layout και πεδία — καλύπτει κάθε μορφή τιμολογίου.</a:t>
            </a:r>
          </a:p>
        </p:txBody>
      </p:sp>
      <p:sp>
        <p:nvSpPr>
          <p:cNvPr id="201" name="Pillar201"/>
          <p:cNvSpPr/>
          <p:nvPr/>
        </p:nvSpPr>
        <p:spPr>
          <a:xfrm>
            <a:off x="6248400" y="2540000"/>
            <a:ext cx="5105400" cy="1841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1E4368"/>
            </a:solidFill>
          </a:ln>
        </p:spPr>
        <p:txBody>
          <a:bodyPr wrap="square" lIns="200000" tIns="200000" rIns="200000" bIns="200000" anchor="t"/>
          <a:lstStyle/>
          <a:p>
            <a:pPr>
              <a:buNone/>
            </a:pPr>
            <a:r>
              <a:rPr lang="el-GR" sz="2400" b="1" dirty="0">
                <a:solidFill>
                  <a:srgbClr val="F59E0B"/>
                </a:solidFill>
              </a:rPr>
              <a:t>02  Σημασιολογική Αναζήτηση</a:t>
            </a:r>
          </a:p>
          <a:p>
            <a:pPr>
              <a:spcBef>
                <a:spcPts val="500"/>
              </a:spcBef>
              <a:buNone/>
            </a:pPr>
            <a:r>
              <a:rPr lang="el-GR" sz="1600" b="0" dirty="0">
                <a:solidFill>
                  <a:srgbClr val="E6EEF5"/>
                </a:solidFill>
              </a:rPr>
              <a:t>Embeddings + vector DB ανακτούν τα πιο σχετικά κομμάτια για κάθε ερώτηση.</a:t>
            </a:r>
          </a:p>
        </p:txBody>
      </p:sp>
      <p:sp>
        <p:nvSpPr>
          <p:cNvPr id="202" name="Pillar202"/>
          <p:cNvSpPr/>
          <p:nvPr/>
        </p:nvSpPr>
        <p:spPr>
          <a:xfrm>
            <a:off x="838200" y="4610100"/>
            <a:ext cx="5105400" cy="1841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1E4368"/>
            </a:solidFill>
          </a:ln>
        </p:spPr>
        <p:txBody>
          <a:bodyPr wrap="square" lIns="200000" tIns="200000" rIns="200000" bIns="200000" anchor="t"/>
          <a:lstStyle/>
          <a:p>
            <a:pPr>
              <a:buNone/>
            </a:pPr>
            <a:r>
              <a:rPr lang="el-GR" sz="2400" b="1" dirty="0">
                <a:solidFill>
                  <a:srgbClr val="60A5FA"/>
                </a:solidFill>
              </a:rPr>
              <a:t>03  Grounded Απαντήσεις</a:t>
            </a:r>
          </a:p>
          <a:p>
            <a:pPr>
              <a:spcBef>
                <a:spcPts val="500"/>
              </a:spcBef>
              <a:buNone/>
            </a:pPr>
            <a:r>
              <a:rPr lang="el-GR" sz="1600" b="0" dirty="0">
                <a:solidFill>
                  <a:srgbClr val="E6EEF5"/>
                </a:solidFill>
              </a:rPr>
              <a:t>Το LLM παράγει απάντηση αυστηρά από το retrieved context · καθαρή αναφορά πηγής.</a:t>
            </a:r>
          </a:p>
        </p:txBody>
      </p:sp>
      <p:sp>
        <p:nvSpPr>
          <p:cNvPr id="203" name="Pillar203"/>
          <p:cNvSpPr/>
          <p:nvPr/>
        </p:nvSpPr>
        <p:spPr>
          <a:xfrm>
            <a:off x="6248400" y="4610100"/>
            <a:ext cx="5105400" cy="1841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1E4368"/>
            </a:solidFill>
          </a:ln>
        </p:spPr>
        <p:txBody>
          <a:bodyPr wrap="square" lIns="200000" tIns="200000" rIns="200000" bIns="200000" anchor="t"/>
          <a:lstStyle/>
          <a:p>
            <a:pPr>
              <a:buNone/>
            </a:pPr>
            <a:r>
              <a:rPr lang="el-GR" sz="2400" b="1" dirty="0">
                <a:solidFill>
                  <a:srgbClr val="A78BFA"/>
                </a:solidFill>
              </a:rPr>
              <a:t>04  Bounding-Box Evidence</a:t>
            </a:r>
          </a:p>
          <a:p>
            <a:pPr>
              <a:spcBef>
                <a:spcPts val="500"/>
              </a:spcBef>
              <a:buNone/>
            </a:pPr>
            <a:r>
              <a:rPr lang="el-GR" sz="1600" b="0" dirty="0">
                <a:solidFill>
                  <a:srgbClr val="E6EEF5"/>
                </a:solidFill>
              </a:rPr>
              <a:t>Κάθε απάντηση συνοδεύεται από το ακριβές απόσπασμα της εικόνας όπου βρέθηκε το δεδομένο.</a:t>
            </a:r>
          </a:p>
        </p:txBody>
      </p:sp>
    </p:spTree>
    <p:extLst>
      <p:ext uri="{BB962C8B-B14F-4D97-AF65-F5344CB8AC3E}">
        <p14:creationId xmlns:p14="http://schemas.microsoft.com/office/powerpoint/2010/main" val="300026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F0F13BC-74C4-42D2-1BD2-966725CE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chemeClr val="tx1"/>
                </a:solidFill>
              </a:rPr>
              <a:t>Αρχιτεκτονική</a:t>
            </a:r>
          </a:p>
        </p:txBody>
      </p:sp>
      <p:sp>
        <p:nvSpPr>
          <p:cNvPr id="100" name="Lede"/>
          <p:cNvSpPr/>
          <p:nvPr/>
        </p:nvSpPr>
        <p:spPr>
          <a:xfrm>
            <a:off x="838200" y="1651000"/>
            <a:ext cx="10515600" cy="457200"/>
          </a:xfrm>
          <a:prstGeom prst="rect">
            <a:avLst/>
          </a:prstGeom>
          <a:noFill/>
        </p:spPr>
        <p:txBody>
          <a:bodyPr wrap="square" lIns="0" tIns="0" anchor="t"/>
          <a:lstStyle/>
          <a:p>
            <a:pPr>
              <a:buNone/>
            </a:pPr>
            <a:r>
              <a:rPr lang="el-GR" sz="1800" b="0" dirty="0">
                <a:solidFill>
                  <a:srgbClr val="9FB6CC"/>
                </a:solidFill>
              </a:rPr>
              <a:t>5-βήματα pipeline · από raw PDF/JPEG μέχρι </a:t>
            </a:r>
            <a:r>
              <a:rPr lang="el-GR" dirty="0">
                <a:solidFill>
                  <a:srgbClr val="9FB6CC"/>
                </a:solidFill>
              </a:rPr>
              <a:t>την </a:t>
            </a:r>
            <a:r>
              <a:rPr lang="el-GR" sz="1800" b="0" dirty="0" err="1">
                <a:solidFill>
                  <a:srgbClr val="9FB6CC"/>
                </a:solidFill>
              </a:rPr>
              <a:t>grounded</a:t>
            </a:r>
            <a:r>
              <a:rPr lang="el-GR" sz="1800" b="0" dirty="0">
                <a:solidFill>
                  <a:srgbClr val="9FB6CC"/>
                </a:solidFill>
              </a:rPr>
              <a:t> απάντηση</a:t>
            </a:r>
          </a:p>
        </p:txBody>
      </p:sp>
      <p:sp>
        <p:nvSpPr>
          <p:cNvPr id="300" name="Step300"/>
          <p:cNvSpPr/>
          <p:nvPr/>
        </p:nvSpPr>
        <p:spPr>
          <a:xfrm>
            <a:off x="1016000" y="2667000"/>
            <a:ext cx="1828800" cy="2159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19050">
            <a:solidFill>
              <a:srgbClr val="2DD4BF"/>
            </a:solidFill>
          </a:ln>
        </p:spPr>
        <p:txBody>
          <a:bodyPr wrap="square" lIns="90000" tIns="90000" rIns="90000" bIns="90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2DD4BF"/>
                </a:solidFill>
              </a:rPr>
              <a:t>01</a:t>
            </a:r>
          </a:p>
          <a:p>
            <a:pPr algn="ctr">
              <a:spcBef>
                <a:spcPts val="300"/>
              </a:spcBef>
              <a:buNone/>
            </a:pPr>
            <a:r>
              <a:rPr lang="el-GR" sz="1500" b="1" dirty="0">
                <a:solidFill>
                  <a:srgbClr val="071424"/>
                </a:solidFill>
              </a:rPr>
              <a:t>Ingest</a:t>
            </a:r>
          </a:p>
          <a:p>
            <a:pPr algn="ctr">
              <a:spcBef>
                <a:spcPts val="200"/>
              </a:spcBef>
              <a:buNone/>
            </a:pPr>
            <a:r>
              <a:rPr lang="el-GR" sz="1400" b="0" dirty="0">
                <a:solidFill>
                  <a:srgbClr val="9FB6CC"/>
                </a:solidFill>
              </a:rPr>
              <a:t>PDF / JPEG</a:t>
            </a:r>
          </a:p>
        </p:txBody>
      </p:sp>
      <p:sp>
        <p:nvSpPr>
          <p:cNvPr id="400" name="Arr400"/>
          <p:cNvSpPr/>
          <p:nvPr/>
        </p:nvSpPr>
        <p:spPr>
          <a:xfrm>
            <a:off x="2844800" y="3619500"/>
            <a:ext cx="2540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301" name="Step301"/>
          <p:cNvSpPr/>
          <p:nvPr/>
        </p:nvSpPr>
        <p:spPr>
          <a:xfrm>
            <a:off x="3098800" y="2667000"/>
            <a:ext cx="1828800" cy="2159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19050">
            <a:solidFill>
              <a:srgbClr val="F59E0B"/>
            </a:solidFill>
          </a:ln>
        </p:spPr>
        <p:txBody>
          <a:bodyPr wrap="square" lIns="90000" tIns="90000" rIns="90000" bIns="90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02</a:t>
            </a:r>
          </a:p>
          <a:p>
            <a:pPr algn="ctr">
              <a:spcBef>
                <a:spcPts val="300"/>
              </a:spcBef>
              <a:buNone/>
            </a:pPr>
            <a:r>
              <a:rPr lang="el-GR" sz="1500" b="1" dirty="0">
                <a:solidFill>
                  <a:srgbClr val="071424"/>
                </a:solidFill>
              </a:rPr>
              <a:t>Extract</a:t>
            </a:r>
          </a:p>
          <a:p>
            <a:pPr algn="ctr">
              <a:spcBef>
                <a:spcPts val="200"/>
              </a:spcBef>
              <a:buNone/>
            </a:pPr>
            <a:r>
              <a:rPr lang="el-GR" sz="1400" b="0" dirty="0">
                <a:solidFill>
                  <a:srgbClr val="9FB6CC"/>
                </a:solidFill>
              </a:rPr>
              <a:t>OCR + VLM layout</a:t>
            </a:r>
          </a:p>
        </p:txBody>
      </p:sp>
      <p:sp>
        <p:nvSpPr>
          <p:cNvPr id="401" name="Arr401"/>
          <p:cNvSpPr/>
          <p:nvPr/>
        </p:nvSpPr>
        <p:spPr>
          <a:xfrm>
            <a:off x="4927600" y="3619500"/>
            <a:ext cx="2540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302" name="Step302"/>
          <p:cNvSpPr/>
          <p:nvPr/>
        </p:nvSpPr>
        <p:spPr>
          <a:xfrm>
            <a:off x="5181600" y="2667000"/>
            <a:ext cx="1828800" cy="2159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19050">
            <a:solidFill>
              <a:srgbClr val="60A5FA"/>
            </a:solidFill>
          </a:ln>
        </p:spPr>
        <p:txBody>
          <a:bodyPr wrap="square" lIns="90000" tIns="90000" rIns="90000" bIns="90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60A5FA"/>
                </a:solidFill>
              </a:rPr>
              <a:t>03</a:t>
            </a:r>
          </a:p>
          <a:p>
            <a:pPr algn="ctr">
              <a:spcBef>
                <a:spcPts val="300"/>
              </a:spcBef>
              <a:buNone/>
            </a:pPr>
            <a:r>
              <a:rPr lang="el-GR" sz="1500" b="1" dirty="0">
                <a:solidFill>
                  <a:srgbClr val="071424"/>
                </a:solidFill>
              </a:rPr>
              <a:t>Embed</a:t>
            </a:r>
          </a:p>
          <a:p>
            <a:pPr algn="ctr">
              <a:spcBef>
                <a:spcPts val="200"/>
              </a:spcBef>
              <a:buNone/>
            </a:pPr>
            <a:r>
              <a:rPr lang="el-GR" sz="1400" b="0" dirty="0">
                <a:solidFill>
                  <a:srgbClr val="9FB6CC"/>
                </a:solidFill>
              </a:rPr>
              <a:t>Vector store</a:t>
            </a:r>
          </a:p>
        </p:txBody>
      </p:sp>
      <p:sp>
        <p:nvSpPr>
          <p:cNvPr id="402" name="Arr402"/>
          <p:cNvSpPr/>
          <p:nvPr/>
        </p:nvSpPr>
        <p:spPr>
          <a:xfrm>
            <a:off x="7010400" y="3619500"/>
            <a:ext cx="2540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303" name="Step303"/>
          <p:cNvSpPr/>
          <p:nvPr/>
        </p:nvSpPr>
        <p:spPr>
          <a:xfrm>
            <a:off x="7264400" y="2667000"/>
            <a:ext cx="1828800" cy="2159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19050">
            <a:solidFill>
              <a:srgbClr val="A78BFA"/>
            </a:solidFill>
          </a:ln>
        </p:spPr>
        <p:txBody>
          <a:bodyPr wrap="square" lIns="90000" tIns="90000" rIns="90000" bIns="90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A78BFA"/>
                </a:solidFill>
              </a:rPr>
              <a:t>04</a:t>
            </a:r>
          </a:p>
          <a:p>
            <a:pPr algn="ctr">
              <a:spcBef>
                <a:spcPts val="300"/>
              </a:spcBef>
              <a:buNone/>
            </a:pPr>
            <a:r>
              <a:rPr lang="el-GR" sz="1500" b="1" dirty="0">
                <a:solidFill>
                  <a:srgbClr val="071424"/>
                </a:solidFill>
              </a:rPr>
              <a:t>Retrieve</a:t>
            </a:r>
          </a:p>
          <a:p>
            <a:pPr algn="ctr">
              <a:spcBef>
                <a:spcPts val="200"/>
              </a:spcBef>
              <a:buNone/>
            </a:pPr>
            <a:r>
              <a:rPr lang="el-GR" sz="1400" b="0" dirty="0">
                <a:solidFill>
                  <a:srgbClr val="9FB6CC"/>
                </a:solidFill>
              </a:rPr>
              <a:t>Top-k semantic search</a:t>
            </a:r>
          </a:p>
        </p:txBody>
      </p:sp>
      <p:sp>
        <p:nvSpPr>
          <p:cNvPr id="403" name="Arr403"/>
          <p:cNvSpPr/>
          <p:nvPr/>
        </p:nvSpPr>
        <p:spPr>
          <a:xfrm>
            <a:off x="9093200" y="3619500"/>
            <a:ext cx="254000" cy="254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304" name="Step304"/>
          <p:cNvSpPr/>
          <p:nvPr/>
        </p:nvSpPr>
        <p:spPr>
          <a:xfrm>
            <a:off x="9347200" y="2667000"/>
            <a:ext cx="1828800" cy="2159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19050">
            <a:solidFill>
              <a:srgbClr val="34D399"/>
            </a:solidFill>
          </a:ln>
        </p:spPr>
        <p:txBody>
          <a:bodyPr wrap="square" lIns="90000" tIns="90000" rIns="90000" bIns="90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05</a:t>
            </a:r>
          </a:p>
          <a:p>
            <a:pPr algn="ctr">
              <a:spcBef>
                <a:spcPts val="300"/>
              </a:spcBef>
              <a:buNone/>
            </a:pPr>
            <a:r>
              <a:rPr lang="el-GR" sz="1500" b="1" dirty="0">
                <a:solidFill>
                  <a:srgbClr val="FFFFFF"/>
                </a:solidFill>
              </a:rPr>
              <a:t>Generate</a:t>
            </a:r>
          </a:p>
          <a:p>
            <a:pPr algn="ctr">
              <a:spcBef>
                <a:spcPts val="200"/>
              </a:spcBef>
              <a:buNone/>
            </a:pPr>
            <a:r>
              <a:rPr lang="el-GR" sz="1400" b="0" dirty="0">
                <a:solidFill>
                  <a:srgbClr val="9FB6CC"/>
                </a:solidFill>
              </a:rPr>
              <a:t>Grounded LLM answer</a:t>
            </a:r>
          </a:p>
        </p:txBody>
      </p:sp>
      <p:sp>
        <p:nvSpPr>
          <p:cNvPr id="500" name="Footer"/>
          <p:cNvSpPr/>
          <p:nvPr/>
        </p:nvSpPr>
        <p:spPr>
          <a:xfrm>
            <a:off x="838200" y="5461000"/>
            <a:ext cx="10515600" cy="1016000"/>
          </a:xfrm>
          <a:prstGeom prst="roundRect">
            <a:avLst>
              <a:gd name="adj" fmla="val 12000"/>
            </a:avLst>
          </a:prstGeom>
          <a:solidFill>
            <a:srgbClr val="0F2740"/>
          </a:solidFill>
          <a:ln w="6350">
            <a:solidFill>
              <a:srgbClr val="2DD4BF"/>
            </a:solidFill>
          </a:ln>
        </p:spPr>
        <p:txBody>
          <a:bodyPr wrap="square" lIns="240000" tIns="120000" rIns="240000" bIns="120000" anchor="ctr" anchorCtr="1"/>
          <a:lstStyle/>
          <a:p>
            <a:pPr algn="l">
              <a:buNone/>
            </a:pPr>
            <a:r>
              <a:rPr lang="el-GR" sz="1500" b="1" dirty="0">
                <a:solidFill>
                  <a:srgbClr val="2DD4BF"/>
                </a:solidFill>
              </a:rPr>
              <a:t>Guardrails: </a:t>
            </a:r>
            <a:r>
              <a:rPr lang="el-GR" sz="1500" b="0" dirty="0">
                <a:solidFill>
                  <a:srgbClr val="E6EEF5"/>
                </a:solidFill>
              </a:rPr>
              <a:t>Strict prompt → context-only · Confidence threshold · Fallback "Δεν βρέθηκε στο έγγραφο" · Source citation σε κάθε απάντηση</a:t>
            </a:r>
          </a:p>
        </p:txBody>
      </p:sp>
    </p:spTree>
    <p:extLst>
      <p:ext uri="{BB962C8B-B14F-4D97-AF65-F5344CB8AC3E}">
        <p14:creationId xmlns:p14="http://schemas.microsoft.com/office/powerpoint/2010/main" val="368984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11D1E8D-8BDE-BC92-EFE8-29024DD4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chemeClr val="tx1"/>
                </a:solidFill>
              </a:rPr>
              <a:t>Πώς δουλεύει το RAG</a:t>
            </a:r>
          </a:p>
        </p:txBody>
      </p:sp>
      <p:sp>
        <p:nvSpPr>
          <p:cNvPr id="600" name="H600"/>
          <p:cNvSpPr/>
          <p:nvPr/>
        </p:nvSpPr>
        <p:spPr>
          <a:xfrm>
            <a:off x="838200" y="1651000"/>
            <a:ext cx="5080000" cy="457200"/>
          </a:xfrm>
          <a:prstGeom prst="rect">
            <a:avLst/>
          </a:prstGeom>
          <a:noFill/>
        </p:spPr>
        <p:txBody>
          <a:bodyPr wrap="square" lIns="0" tIns="0" anchor="ctr"/>
          <a:lstStyle/>
          <a:p>
            <a:pPr>
              <a:buNone/>
            </a:pPr>
            <a:r>
              <a:rPr lang="el-GR" sz="1400" b="1" spc="200" dirty="0">
                <a:solidFill>
                  <a:srgbClr val="F59E0B"/>
                </a:solidFill>
              </a:rPr>
              <a:t>INDEXING · OFFLINE</a:t>
            </a:r>
          </a:p>
        </p:txBody>
      </p:sp>
      <p:sp>
        <p:nvSpPr>
          <p:cNvPr id="610" name="S610"/>
          <p:cNvSpPr/>
          <p:nvPr/>
        </p:nvSpPr>
        <p:spPr>
          <a:xfrm>
            <a:off x="838200" y="22225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F59E0B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A  </a:t>
            </a:r>
            <a:r>
              <a:rPr lang="el-GR" sz="1500" b="0" dirty="0">
                <a:solidFill>
                  <a:srgbClr val="E6EEF5"/>
                </a:solidFill>
              </a:rPr>
              <a:t>Φόρτωση PDF / JPEG εγγράφων</a:t>
            </a:r>
          </a:p>
        </p:txBody>
      </p:sp>
      <p:sp>
        <p:nvSpPr>
          <p:cNvPr id="640" name="VA640"/>
          <p:cNvSpPr/>
          <p:nvPr/>
        </p:nvSpPr>
        <p:spPr>
          <a:xfrm>
            <a:off x="3276600" y="2781300"/>
            <a:ext cx="203200" cy="177800"/>
          </a:xfrm>
          <a:prstGeom prst="downArrow">
            <a:avLst>
              <a:gd name="adj1" fmla="val 50000"/>
              <a:gd name="adj2" fmla="val 6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611" name="S611"/>
          <p:cNvSpPr/>
          <p:nvPr/>
        </p:nvSpPr>
        <p:spPr>
          <a:xfrm>
            <a:off x="838200" y="29337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F59E0B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B  </a:t>
            </a:r>
            <a:r>
              <a:rPr lang="el-GR" sz="1500" b="0" dirty="0">
                <a:solidFill>
                  <a:srgbClr val="E6EEF5"/>
                </a:solidFill>
              </a:rPr>
              <a:t>OCR + Layout: text + bounding boxes</a:t>
            </a:r>
          </a:p>
        </p:txBody>
      </p:sp>
      <p:sp>
        <p:nvSpPr>
          <p:cNvPr id="641" name="VA641"/>
          <p:cNvSpPr/>
          <p:nvPr/>
        </p:nvSpPr>
        <p:spPr>
          <a:xfrm>
            <a:off x="3276600" y="3492500"/>
            <a:ext cx="203200" cy="177800"/>
          </a:xfrm>
          <a:prstGeom prst="downArrow">
            <a:avLst>
              <a:gd name="adj1" fmla="val 50000"/>
              <a:gd name="adj2" fmla="val 6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612" name="S612"/>
          <p:cNvSpPr/>
          <p:nvPr/>
        </p:nvSpPr>
        <p:spPr>
          <a:xfrm>
            <a:off x="838200" y="36449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F59E0B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C  </a:t>
            </a:r>
            <a:r>
              <a:rPr lang="el-GR" sz="1500" b="0" dirty="0">
                <a:solidFill>
                  <a:srgbClr val="E6EEF5"/>
                </a:solidFill>
              </a:rPr>
              <a:t>Chunking ανά τμήμα τιμολογίου</a:t>
            </a:r>
          </a:p>
        </p:txBody>
      </p:sp>
      <p:sp>
        <p:nvSpPr>
          <p:cNvPr id="642" name="VA642"/>
          <p:cNvSpPr/>
          <p:nvPr/>
        </p:nvSpPr>
        <p:spPr>
          <a:xfrm>
            <a:off x="3276600" y="4203700"/>
            <a:ext cx="203200" cy="177800"/>
          </a:xfrm>
          <a:prstGeom prst="downArrow">
            <a:avLst>
              <a:gd name="adj1" fmla="val 50000"/>
              <a:gd name="adj2" fmla="val 6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613" name="S613"/>
          <p:cNvSpPr/>
          <p:nvPr/>
        </p:nvSpPr>
        <p:spPr>
          <a:xfrm>
            <a:off x="838200" y="43561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F59E0B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D  </a:t>
            </a:r>
            <a:r>
              <a:rPr lang="el-GR" sz="1500" b="0" dirty="0">
                <a:solidFill>
                  <a:srgbClr val="E6EEF5"/>
                </a:solidFill>
              </a:rPr>
              <a:t>Embedding model → vector store</a:t>
            </a:r>
          </a:p>
        </p:txBody>
      </p:sp>
      <p:sp>
        <p:nvSpPr>
          <p:cNvPr id="700" name="H700"/>
          <p:cNvSpPr/>
          <p:nvPr/>
        </p:nvSpPr>
        <p:spPr>
          <a:xfrm>
            <a:off x="6273800" y="1651000"/>
            <a:ext cx="5080000" cy="457200"/>
          </a:xfrm>
          <a:prstGeom prst="rect">
            <a:avLst/>
          </a:prstGeom>
          <a:noFill/>
        </p:spPr>
        <p:txBody>
          <a:bodyPr wrap="square" lIns="0" tIns="0" anchor="ctr"/>
          <a:lstStyle/>
          <a:p>
            <a:pPr>
              <a:buNone/>
            </a:pPr>
            <a:r>
              <a:rPr lang="el-GR" sz="1400" b="1" spc="200" dirty="0">
                <a:solidFill>
                  <a:srgbClr val="2DD4BF"/>
                </a:solidFill>
              </a:rPr>
              <a:t>QUERY · ONLINE</a:t>
            </a:r>
          </a:p>
        </p:txBody>
      </p:sp>
      <p:sp>
        <p:nvSpPr>
          <p:cNvPr id="710" name="S710"/>
          <p:cNvSpPr/>
          <p:nvPr/>
        </p:nvSpPr>
        <p:spPr>
          <a:xfrm>
            <a:off x="6273800" y="22225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2DD4BF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2DD4BF"/>
                </a:solidFill>
              </a:rPr>
              <a:t>1  </a:t>
            </a:r>
            <a:r>
              <a:rPr lang="el-GR" sz="1500" b="0" dirty="0">
                <a:solidFill>
                  <a:srgbClr val="E6EEF5"/>
                </a:solidFill>
              </a:rPr>
              <a:t>Ερώτηση χρήστη → embedding</a:t>
            </a:r>
          </a:p>
        </p:txBody>
      </p:sp>
      <p:sp>
        <p:nvSpPr>
          <p:cNvPr id="740" name="VA740"/>
          <p:cNvSpPr/>
          <p:nvPr/>
        </p:nvSpPr>
        <p:spPr>
          <a:xfrm>
            <a:off x="8712200" y="2781300"/>
            <a:ext cx="203200" cy="177800"/>
          </a:xfrm>
          <a:prstGeom prst="downArrow">
            <a:avLst>
              <a:gd name="adj1" fmla="val 50000"/>
              <a:gd name="adj2" fmla="val 6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711" name="S711"/>
          <p:cNvSpPr/>
          <p:nvPr/>
        </p:nvSpPr>
        <p:spPr>
          <a:xfrm>
            <a:off x="6273800" y="29337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2DD4BF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2DD4BF"/>
                </a:solidFill>
              </a:rPr>
              <a:t>2  </a:t>
            </a:r>
            <a:r>
              <a:rPr lang="el-GR" sz="1500" b="0" dirty="0">
                <a:solidFill>
                  <a:srgbClr val="E6EEF5"/>
                </a:solidFill>
              </a:rPr>
              <a:t>Top-k retrieval από vector store</a:t>
            </a:r>
          </a:p>
        </p:txBody>
      </p:sp>
      <p:sp>
        <p:nvSpPr>
          <p:cNvPr id="741" name="VA741"/>
          <p:cNvSpPr/>
          <p:nvPr/>
        </p:nvSpPr>
        <p:spPr>
          <a:xfrm>
            <a:off x="8712200" y="3492500"/>
            <a:ext cx="203200" cy="177800"/>
          </a:xfrm>
          <a:prstGeom prst="downArrow">
            <a:avLst>
              <a:gd name="adj1" fmla="val 50000"/>
              <a:gd name="adj2" fmla="val 6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712" name="S712"/>
          <p:cNvSpPr/>
          <p:nvPr/>
        </p:nvSpPr>
        <p:spPr>
          <a:xfrm>
            <a:off x="6273800" y="36449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2DD4BF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2DD4BF"/>
                </a:solidFill>
              </a:rPr>
              <a:t>3  </a:t>
            </a:r>
            <a:r>
              <a:rPr lang="el-GR" sz="1500" b="0" dirty="0">
                <a:solidFill>
                  <a:srgbClr val="E6EEF5"/>
                </a:solidFill>
              </a:rPr>
              <a:t>Re-rank · φίλτρο relevance score</a:t>
            </a:r>
          </a:p>
        </p:txBody>
      </p:sp>
      <p:sp>
        <p:nvSpPr>
          <p:cNvPr id="742" name="VA742"/>
          <p:cNvSpPr/>
          <p:nvPr/>
        </p:nvSpPr>
        <p:spPr>
          <a:xfrm>
            <a:off x="8712200" y="4203700"/>
            <a:ext cx="203200" cy="177800"/>
          </a:xfrm>
          <a:prstGeom prst="downArrow">
            <a:avLst>
              <a:gd name="adj1" fmla="val 50000"/>
              <a:gd name="adj2" fmla="val 6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713" name="S713"/>
          <p:cNvSpPr/>
          <p:nvPr/>
        </p:nvSpPr>
        <p:spPr>
          <a:xfrm>
            <a:off x="6273800" y="4356100"/>
            <a:ext cx="5080000" cy="584200"/>
          </a:xfrm>
          <a:prstGeom prst="roundRect">
            <a:avLst>
              <a:gd name="adj" fmla="val 8000"/>
            </a:avLst>
          </a:prstGeom>
          <a:solidFill>
            <a:srgbClr val="13314D"/>
          </a:solidFill>
          <a:ln w="12700">
            <a:solidFill>
              <a:srgbClr val="2DD4BF"/>
            </a:solidFill>
          </a:ln>
        </p:spPr>
        <p:txBody>
          <a:bodyPr wrap="square" lIns="160000" tIns="80000" rIns="160000" bIns="80000" anchor="ctr" anchorCtr="1"/>
          <a:lstStyle/>
          <a:p>
            <a:pPr algn="l">
              <a:buNone/>
            </a:pPr>
            <a:r>
              <a:rPr lang="en-US" sz="1400" b="1" dirty="0">
                <a:solidFill>
                  <a:srgbClr val="2DD4BF"/>
                </a:solidFill>
              </a:rPr>
              <a:t>4  </a:t>
            </a:r>
            <a:r>
              <a:rPr lang="el-GR" sz="1500" b="0" dirty="0">
                <a:solidFill>
                  <a:srgbClr val="E6EEF5"/>
                </a:solidFill>
              </a:rPr>
              <a:t>LLM με strict prompt + citation</a:t>
            </a:r>
          </a:p>
        </p:txBody>
      </p:sp>
    </p:spTree>
    <p:extLst>
      <p:ext uri="{BB962C8B-B14F-4D97-AF65-F5344CB8AC3E}">
        <p14:creationId xmlns:p14="http://schemas.microsoft.com/office/powerpoint/2010/main" val="213784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2C3CD6E-233A-6C18-439F-90BA67DE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Όχι </a:t>
            </a:r>
            <a:r>
              <a:rPr lang="el-GR" sz="3600" b="1" dirty="0">
                <a:solidFill>
                  <a:srgbClr val="F87171"/>
                </a:solidFill>
              </a:rPr>
              <a:t>Ψευδαισθήσεις</a:t>
            </a:r>
          </a:p>
        </p:txBody>
      </p:sp>
      <p:sp>
        <p:nvSpPr>
          <p:cNvPr id="100" name="Lede"/>
          <p:cNvSpPr/>
          <p:nvPr/>
        </p:nvSpPr>
        <p:spPr>
          <a:xfrm>
            <a:off x="838200" y="1651000"/>
            <a:ext cx="10515600" cy="457200"/>
          </a:xfrm>
          <a:prstGeom prst="rect">
            <a:avLst/>
          </a:prstGeom>
          <a:noFill/>
        </p:spPr>
        <p:txBody>
          <a:bodyPr wrap="square" lIns="0" tIns="0" anchor="t"/>
          <a:lstStyle/>
          <a:p>
            <a:pPr>
              <a:buNone/>
            </a:pPr>
            <a:r>
              <a:rPr lang="el-GR" sz="1800" b="0" dirty="0">
                <a:solidFill>
                  <a:srgbClr val="9FB6CC"/>
                </a:solidFill>
              </a:rPr>
              <a:t>Τέσσερις άμυνες που εξασφαλίζουν ότι κάθε απάντηση είναι </a:t>
            </a:r>
            <a:r>
              <a:rPr lang="el-GR" sz="1800" b="1" dirty="0">
                <a:solidFill>
                  <a:srgbClr val="2DD4BF"/>
                </a:solidFill>
              </a:rPr>
              <a:t>grounded</a:t>
            </a:r>
            <a:r>
              <a:rPr lang="el-GR" sz="1800" b="0" dirty="0">
                <a:solidFill>
                  <a:srgbClr val="9FB6CC"/>
                </a:solidFill>
              </a:rPr>
              <a:t> στα πραγματικά έγγραφα.</a:t>
            </a:r>
          </a:p>
        </p:txBody>
      </p:sp>
      <p:sp>
        <p:nvSpPr>
          <p:cNvPr id="800" name="R800"/>
          <p:cNvSpPr/>
          <p:nvPr/>
        </p:nvSpPr>
        <p:spPr>
          <a:xfrm>
            <a:off x="838200" y="2476500"/>
            <a:ext cx="10515600" cy="889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6350">
            <a:solidFill>
              <a:srgbClr val="1E4368"/>
            </a:solidFill>
          </a:ln>
        </p:spPr>
        <p:txBody>
          <a:bodyPr wrap="square" lIns="228600" tIns="45720" rIns="228600" bIns="45720" anchor="ctr" anchorCtr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D4BF"/>
                </a:solidFill>
              </a:rPr>
              <a:t>01   </a:t>
            </a:r>
            <a:r>
              <a:rPr lang="el-GR" sz="1800" b="1" dirty="0">
                <a:solidFill>
                  <a:srgbClr val="FFFFFF"/>
                </a:solidFill>
              </a:rPr>
              <a:t>Strict Context Prompt</a:t>
            </a:r>
            <a:r>
              <a:rPr lang="el-GR" sz="1500" b="0" dirty="0">
                <a:solidFill>
                  <a:srgbClr val="9FB6CC"/>
                </a:solidFill>
              </a:rPr>
              <a:t>   ·   Το system prompt απαγορεύει ρητά γνώση εκτός retrieved context</a:t>
            </a:r>
          </a:p>
        </p:txBody>
      </p:sp>
      <p:sp>
        <p:nvSpPr>
          <p:cNvPr id="801" name="R801"/>
          <p:cNvSpPr/>
          <p:nvPr/>
        </p:nvSpPr>
        <p:spPr>
          <a:xfrm>
            <a:off x="838200" y="3467100"/>
            <a:ext cx="10515600" cy="889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6350">
            <a:solidFill>
              <a:srgbClr val="1E4368"/>
            </a:solidFill>
          </a:ln>
        </p:spPr>
        <p:txBody>
          <a:bodyPr wrap="square" lIns="228600" tIns="45720" rIns="228600" bIns="45720" anchor="ctr" anchorCtr="0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9E0B"/>
                </a:solidFill>
              </a:rPr>
              <a:t>02   </a:t>
            </a:r>
            <a:r>
              <a:rPr lang="el-GR" sz="1800" b="1" dirty="0">
                <a:solidFill>
                  <a:srgbClr val="FFFFFF"/>
                </a:solidFill>
              </a:rPr>
              <a:t>Confidence Threshold</a:t>
            </a:r>
            <a:r>
              <a:rPr lang="el-GR" sz="1500" b="0" dirty="0">
                <a:solidFill>
                  <a:srgbClr val="9FB6CC"/>
                </a:solidFill>
              </a:rPr>
              <a:t>   ·   Χαμηλό similarity score → ο agent απαντά «Δεν γνωρίζω»</a:t>
            </a:r>
          </a:p>
        </p:txBody>
      </p:sp>
      <p:sp>
        <p:nvSpPr>
          <p:cNvPr id="802" name="R802"/>
          <p:cNvSpPr/>
          <p:nvPr/>
        </p:nvSpPr>
        <p:spPr>
          <a:xfrm>
            <a:off x="838200" y="4457700"/>
            <a:ext cx="10515600" cy="889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6350">
            <a:solidFill>
              <a:srgbClr val="1E4368"/>
            </a:solidFill>
          </a:ln>
        </p:spPr>
        <p:txBody>
          <a:bodyPr wrap="square" lIns="228600" tIns="45720" rIns="228600" bIns="45720" anchor="ctr" anchorCtr="0"/>
          <a:lstStyle/>
          <a:p>
            <a:pPr algn="l">
              <a:buNone/>
            </a:pPr>
            <a:r>
              <a:rPr lang="en-US" sz="2400" b="1" dirty="0">
                <a:solidFill>
                  <a:srgbClr val="60A5FA"/>
                </a:solidFill>
              </a:rPr>
              <a:t>03   </a:t>
            </a:r>
            <a:r>
              <a:rPr lang="el-GR" sz="1800" b="1" dirty="0">
                <a:solidFill>
                  <a:srgbClr val="FFFFFF"/>
                </a:solidFill>
              </a:rPr>
              <a:t>Source Citation</a:t>
            </a:r>
            <a:r>
              <a:rPr lang="el-GR" sz="1500" b="0" dirty="0">
                <a:solidFill>
                  <a:srgbClr val="9FB6CC"/>
                </a:solidFill>
              </a:rPr>
              <a:t>   ·   Κάθε απάντηση αναφέρει το ακριβές αρχείο (TechCorp_Invoice_03.pdf)                                      </a:t>
            </a:r>
          </a:p>
        </p:txBody>
      </p:sp>
      <p:sp>
        <p:nvSpPr>
          <p:cNvPr id="803" name="R803"/>
          <p:cNvSpPr/>
          <p:nvPr/>
        </p:nvSpPr>
        <p:spPr>
          <a:xfrm>
            <a:off x="828040" y="5448300"/>
            <a:ext cx="10515600" cy="889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6350">
            <a:solidFill>
              <a:srgbClr val="1E4368"/>
            </a:solidFill>
          </a:ln>
        </p:spPr>
        <p:txBody>
          <a:bodyPr wrap="square" lIns="228600" tIns="45720" rIns="228600" bIns="45720" anchor="ctr" anchorCtr="0"/>
          <a:lstStyle/>
          <a:p>
            <a:pPr algn="l">
              <a:buNone/>
            </a:pPr>
            <a:r>
              <a:rPr lang="en-US" sz="2400" b="1" dirty="0">
                <a:solidFill>
                  <a:srgbClr val="A78BFA"/>
                </a:solidFill>
              </a:rPr>
              <a:t>04   </a:t>
            </a:r>
            <a:r>
              <a:rPr lang="el-GR" sz="1800" b="1" dirty="0">
                <a:solidFill>
                  <a:srgbClr val="FFFFFF"/>
                </a:solidFill>
              </a:rPr>
              <a:t>Self-Check Pass</a:t>
            </a:r>
            <a:r>
              <a:rPr lang="el-GR" sz="1500" b="0" dirty="0">
                <a:solidFill>
                  <a:srgbClr val="9FB6CC"/>
                </a:solidFill>
              </a:rPr>
              <a:t>   ·   Δεύτερο LLM call επαληθεύει ότι η απάντηση υπάρχει στο </a:t>
            </a:r>
            <a:r>
              <a:rPr lang="el-GR" sz="1500" b="0" dirty="0" err="1">
                <a:solidFill>
                  <a:srgbClr val="9FB6CC"/>
                </a:solidFill>
              </a:rPr>
              <a:t>context</a:t>
            </a:r>
            <a:r>
              <a:rPr lang="el-GR" sz="1500" b="0" dirty="0">
                <a:solidFill>
                  <a:srgbClr val="9FB6CC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0133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DAC4104-131C-C642-AAC5-AB9EA269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Bonus </a:t>
            </a:r>
            <a:r>
              <a:rPr lang="el-GR" sz="3600" b="1" dirty="0">
                <a:solidFill>
                  <a:srgbClr val="F59E0B"/>
                </a:solidFill>
              </a:rPr>
              <a:t>Features</a:t>
            </a:r>
          </a:p>
        </p:txBody>
      </p:sp>
      <p:sp>
        <p:nvSpPr>
          <p:cNvPr id="100" name="L"/>
          <p:cNvSpPr/>
          <p:nvPr/>
        </p:nvSpPr>
        <p:spPr>
          <a:xfrm>
            <a:off x="838200" y="1651000"/>
            <a:ext cx="10515600" cy="457200"/>
          </a:xfrm>
          <a:prstGeom prst="rect">
            <a:avLst/>
          </a:prstGeom>
          <a:noFill/>
        </p:spPr>
        <p:txBody>
          <a:bodyPr wrap="square" lIns="0" tIns="0" anchor="t"/>
          <a:lstStyle/>
          <a:p>
            <a:pPr>
              <a:buNone/>
            </a:pPr>
            <a:r>
              <a:rPr lang="el-GR" sz="1800" b="0" dirty="0">
                <a:solidFill>
                  <a:srgbClr val="9FB6CC"/>
                </a:solidFill>
              </a:rPr>
              <a:t>Τρία </a:t>
            </a:r>
            <a:r>
              <a:rPr lang="en-US" dirty="0">
                <a:solidFill>
                  <a:srgbClr val="9FB6CC"/>
                </a:solidFill>
              </a:rPr>
              <a:t>features</a:t>
            </a:r>
            <a:r>
              <a:rPr lang="el-GR" sz="1800" b="0" dirty="0">
                <a:solidFill>
                  <a:srgbClr val="9FB6CC"/>
                </a:solidFill>
              </a:rPr>
              <a:t> που μετατρέπουν το MVP σε production-ready προϊόν.</a:t>
            </a:r>
          </a:p>
        </p:txBody>
      </p:sp>
      <p:sp>
        <p:nvSpPr>
          <p:cNvPr id="900" name="F900"/>
          <p:cNvSpPr/>
          <p:nvPr/>
        </p:nvSpPr>
        <p:spPr>
          <a:xfrm>
            <a:off x="838200" y="2349500"/>
            <a:ext cx="3352800" cy="3746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2DD4BF"/>
            </a:solidFill>
          </a:ln>
        </p:spPr>
        <p:txBody>
          <a:bodyPr wrap="square" lIns="200000" tIns="220000" rIns="200000" bIns="200000" anchor="t"/>
          <a:lstStyle/>
          <a:p>
            <a:pPr>
              <a:buNone/>
            </a:pPr>
            <a:r>
              <a:rPr lang="en-US" sz="1300" b="1" spc="200" dirty="0">
                <a:solidFill>
                  <a:srgbClr val="2DD4BF"/>
                </a:solidFill>
              </a:rPr>
              <a:t>BONUS 01</a:t>
            </a:r>
          </a:p>
          <a:p>
            <a:pPr>
              <a:spcBef>
                <a:spcPts val="500"/>
              </a:spcBef>
              <a:buNone/>
            </a:pPr>
            <a:r>
              <a:rPr lang="el-GR" sz="2000" b="1" dirty="0">
                <a:solidFill>
                  <a:srgbClr val="FFFFFF"/>
                </a:solidFill>
              </a:rPr>
              <a:t>Follow-up Chat</a:t>
            </a:r>
          </a:p>
          <a:p>
            <a:pPr>
              <a:spcBef>
                <a:spcPts val="600"/>
              </a:spcBef>
              <a:buNone/>
            </a:pPr>
            <a:r>
              <a:rPr lang="el-GR" sz="1500" b="0" dirty="0">
                <a:solidFill>
                  <a:srgbClr val="E6EEF5"/>
                </a:solidFill>
              </a:rPr>
              <a:t>Συνεχόμενη συζήτηση με conversation memory — ο agent θυμάται την προηγούμενη ερώτηση και τις αναφορές που έγιναν.</a:t>
            </a:r>
          </a:p>
          <a:p>
            <a:pPr>
              <a:spcBef>
                <a:spcPts val="700"/>
              </a:spcBef>
              <a:buNone/>
            </a:pPr>
            <a:r>
              <a:rPr lang="el-GR" sz="1300" b="1" i="1" dirty="0">
                <a:solidFill>
                  <a:srgbClr val="2DD4BF"/>
                </a:solidFill>
              </a:rPr>
              <a:t>→ LangChain memory + session state</a:t>
            </a:r>
          </a:p>
        </p:txBody>
      </p:sp>
      <p:sp>
        <p:nvSpPr>
          <p:cNvPr id="901" name="F901"/>
          <p:cNvSpPr/>
          <p:nvPr/>
        </p:nvSpPr>
        <p:spPr>
          <a:xfrm>
            <a:off x="4419600" y="2349500"/>
            <a:ext cx="3352800" cy="3746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F59E0B"/>
            </a:solidFill>
          </a:ln>
        </p:spPr>
        <p:txBody>
          <a:bodyPr wrap="square" lIns="200000" tIns="220000" rIns="200000" bIns="200000" anchor="t"/>
          <a:lstStyle/>
          <a:p>
            <a:pPr>
              <a:buNone/>
            </a:pPr>
            <a:r>
              <a:rPr lang="en-US" sz="1300" b="1" spc="200" dirty="0">
                <a:solidFill>
                  <a:srgbClr val="F59E0B"/>
                </a:solidFill>
              </a:rPr>
              <a:t>BONUS 02</a:t>
            </a:r>
          </a:p>
          <a:p>
            <a:pPr>
              <a:spcBef>
                <a:spcPts val="500"/>
              </a:spcBef>
              <a:buNone/>
            </a:pPr>
            <a:r>
              <a:rPr lang="el-GR" sz="2000" b="1" dirty="0">
                <a:solidFill>
                  <a:srgbClr val="FFFFFF"/>
                </a:solidFill>
              </a:rPr>
              <a:t>Bounding-Box Snippets</a:t>
            </a:r>
          </a:p>
          <a:p>
            <a:pPr>
              <a:spcBef>
                <a:spcPts val="600"/>
              </a:spcBef>
              <a:buNone/>
            </a:pPr>
            <a:r>
              <a:rPr lang="el-GR" sz="1500" b="0" dirty="0">
                <a:solidFill>
                  <a:srgbClr val="E6EEF5"/>
                </a:solidFill>
              </a:rPr>
              <a:t>Κάθε απάντηση συνοδεύεται από clipped εικόνα του ακριβούς πεδίου στο τιμολόγιο — οπτική επαλήθευση σε ένα κλικ.</a:t>
            </a:r>
          </a:p>
          <a:p>
            <a:pPr>
              <a:spcBef>
                <a:spcPts val="700"/>
              </a:spcBef>
              <a:buNone/>
            </a:pPr>
            <a:r>
              <a:rPr lang="el-GR" sz="1300" b="1" i="1" dirty="0">
                <a:solidFill>
                  <a:srgbClr val="F59E0B"/>
                </a:solidFill>
              </a:rPr>
              <a:t>→ OCR coords → PIL crop → embed</a:t>
            </a:r>
          </a:p>
        </p:txBody>
      </p:sp>
      <p:sp>
        <p:nvSpPr>
          <p:cNvPr id="902" name="F902"/>
          <p:cNvSpPr/>
          <p:nvPr/>
        </p:nvSpPr>
        <p:spPr>
          <a:xfrm>
            <a:off x="8001000" y="2349500"/>
            <a:ext cx="3352800" cy="37465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60A5FA"/>
            </a:solidFill>
          </a:ln>
        </p:spPr>
        <p:txBody>
          <a:bodyPr wrap="square" lIns="200000" tIns="220000" rIns="200000" bIns="200000" anchor="t"/>
          <a:lstStyle/>
          <a:p>
            <a:pPr>
              <a:buNone/>
            </a:pPr>
            <a:r>
              <a:rPr lang="en-US" sz="1300" b="1" spc="200" dirty="0">
                <a:solidFill>
                  <a:srgbClr val="60A5FA"/>
                </a:solidFill>
              </a:rPr>
              <a:t>BONUS 03</a:t>
            </a:r>
          </a:p>
          <a:p>
            <a:pPr>
              <a:spcBef>
                <a:spcPts val="500"/>
              </a:spcBef>
              <a:buNone/>
            </a:pPr>
            <a:r>
              <a:rPr lang="el-GR" sz="2000" b="1" dirty="0">
                <a:solidFill>
                  <a:srgbClr val="FFFFFF"/>
                </a:solidFill>
              </a:rPr>
              <a:t>Bank Statement Reconciliation</a:t>
            </a:r>
          </a:p>
          <a:p>
            <a:pPr>
              <a:spcBef>
                <a:spcPts val="600"/>
              </a:spcBef>
              <a:buNone/>
            </a:pPr>
            <a:r>
              <a:rPr lang="el-GR" sz="1500" b="0" dirty="0">
                <a:solidFill>
                  <a:srgbClr val="E6EEF5"/>
                </a:solidFill>
              </a:rPr>
              <a:t>Διασταυρώνει το συνολικό ποσό του τιμολογίου με CSV bank statement και επισημαίνει αν έχει πληρωθεί.</a:t>
            </a:r>
          </a:p>
          <a:p>
            <a:pPr>
              <a:spcBef>
                <a:spcPts val="700"/>
              </a:spcBef>
              <a:buNone/>
            </a:pPr>
            <a:r>
              <a:rPr lang="el-GR" sz="1300" b="1" i="1" dirty="0">
                <a:solidFill>
                  <a:srgbClr val="60A5FA"/>
                </a:solidFill>
              </a:rPr>
              <a:t>→ Pandas join · status flag</a:t>
            </a:r>
          </a:p>
        </p:txBody>
      </p:sp>
    </p:spTree>
    <p:extLst>
      <p:ext uri="{BB962C8B-B14F-4D97-AF65-F5344CB8AC3E}">
        <p14:creationId xmlns:p14="http://schemas.microsoft.com/office/powerpoint/2010/main" val="305825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D0FC20D-9ABC-1C46-D3EF-2B4420F0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Demo · Παράδειγμα Q&amp;A</a:t>
            </a:r>
          </a:p>
        </p:txBody>
      </p:sp>
      <p:sp>
        <p:nvSpPr>
          <p:cNvPr id="500" name="sub"/>
          <p:cNvSpPr txBox="1"/>
          <p:nvPr/>
        </p:nvSpPr>
        <p:spPr>
          <a:xfrm>
            <a:off x="762000" y="1498600"/>
            <a:ext cx="10668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l-GR" sz="1600" dirty="0">
                <a:solidFill>
                  <a:srgbClr val="2DD4BF"/>
                </a:solidFill>
              </a:rPr>
              <a:t>Συνομιλία πάνω σε TechCorp_Invoice_03.pdf</a:t>
            </a:r>
          </a:p>
        </p:txBody>
      </p:sp>
      <p:sp>
        <p:nvSpPr>
          <p:cNvPr id="501" name="u"/>
          <p:cNvSpPr/>
          <p:nvPr/>
        </p:nvSpPr>
        <p:spPr>
          <a:xfrm>
            <a:off x="4572000" y="1968500"/>
            <a:ext cx="6858000" cy="635000"/>
          </a:xfrm>
          <a:prstGeom prst="roundRect">
            <a:avLst>
              <a:gd name="adj" fmla="val 18000"/>
            </a:avLst>
          </a:prstGeom>
          <a:solidFill>
            <a:srgbClr val="1B3D5C"/>
          </a:solidFill>
          <a:ln w="9525">
            <a:solidFill>
              <a:srgbClr val="2DD4BF"/>
            </a:solidFill>
          </a:ln>
        </p:spPr>
        <p:txBody>
          <a:bodyPr wrap="square" lIns="177800" tIns="127000" rIns="177800" bIns="127000" anchor="ctr"/>
          <a:lstStyle/>
          <a:p>
            <a:pPr algn="l">
              <a:buNone/>
            </a:pPr>
            <a:r>
              <a:rPr lang="el-GR" sz="1200" b="1" dirty="0">
                <a:solidFill>
                  <a:srgbClr val="2DD4BF"/>
                </a:solidFill>
              </a:rPr>
              <a:t>USER</a:t>
            </a:r>
          </a:p>
          <a:p>
            <a:pPr algn="l">
              <a:buNone/>
            </a:pPr>
            <a:r>
              <a:rPr lang="el-GR" sz="1500" dirty="0">
                <a:solidFill>
                  <a:srgbClr val="FFFFFF"/>
                </a:solidFill>
              </a:rPr>
              <a:t>Ποιο είναι το συνολικό ποσό στο τιμολόγιο της TechCorp;</a:t>
            </a:r>
          </a:p>
        </p:txBody>
      </p:sp>
      <p:sp>
        <p:nvSpPr>
          <p:cNvPr id="502" name="a"/>
          <p:cNvSpPr/>
          <p:nvPr/>
        </p:nvSpPr>
        <p:spPr>
          <a:xfrm>
            <a:off x="762000" y="2705100"/>
            <a:ext cx="8128000" cy="889000"/>
          </a:xfrm>
          <a:prstGeom prst="roundRect">
            <a:avLst>
              <a:gd name="adj" fmla="val 18000"/>
            </a:avLst>
          </a:prstGeom>
          <a:solidFill>
            <a:srgbClr val="13314D"/>
          </a:solidFill>
          <a:ln w="9525">
            <a:solidFill>
              <a:srgbClr val="F59E0B"/>
            </a:solidFill>
          </a:ln>
        </p:spPr>
        <p:txBody>
          <a:bodyPr wrap="square" lIns="177800" tIns="127000" rIns="177800" bIns="127000" anchor="t"/>
          <a:lstStyle/>
          <a:p>
            <a:pPr algn="l">
              <a:buNone/>
            </a:pPr>
            <a:r>
              <a:rPr lang="el-GR" sz="1200" b="1" dirty="0">
                <a:solidFill>
                  <a:srgbClr val="F59E0B"/>
                </a:solidFill>
              </a:rPr>
              <a:t>AI AGENT</a:t>
            </a:r>
          </a:p>
          <a:p>
            <a:pPr algn="l">
              <a:buNone/>
            </a:pPr>
            <a:r>
              <a:rPr lang="el-GR" sz="1500" dirty="0">
                <a:solidFill>
                  <a:srgbClr val="FFFFFF"/>
                </a:solidFill>
              </a:rPr>
              <a:t>Το συνολικό ποσό είναι 1.450,00€.</a:t>
            </a:r>
          </a:p>
          <a:p>
            <a:pPr algn="l">
              <a:buNone/>
            </a:pPr>
            <a:r>
              <a:rPr lang="el-GR" sz="1200" i="1" dirty="0">
                <a:solidFill>
                  <a:srgbClr val="9FB6CC"/>
                </a:solidFill>
              </a:rPr>
              <a:t>Πηγή: TechCorp_Invoice_03.pdf</a:t>
            </a:r>
          </a:p>
        </p:txBody>
      </p:sp>
      <p:sp>
        <p:nvSpPr>
          <p:cNvPr id="503" name="u"/>
          <p:cNvSpPr/>
          <p:nvPr/>
        </p:nvSpPr>
        <p:spPr>
          <a:xfrm>
            <a:off x="4572000" y="3721100"/>
            <a:ext cx="6858000" cy="635000"/>
          </a:xfrm>
          <a:prstGeom prst="roundRect">
            <a:avLst>
              <a:gd name="adj" fmla="val 18000"/>
            </a:avLst>
          </a:prstGeom>
          <a:solidFill>
            <a:srgbClr val="1B3D5C"/>
          </a:solidFill>
          <a:ln w="9525">
            <a:solidFill>
              <a:srgbClr val="2DD4BF"/>
            </a:solidFill>
          </a:ln>
        </p:spPr>
        <p:txBody>
          <a:bodyPr wrap="square" lIns="177800" tIns="127000" rIns="177800" bIns="127000" anchor="ctr"/>
          <a:lstStyle/>
          <a:p>
            <a:pPr algn="l">
              <a:buNone/>
            </a:pPr>
            <a:r>
              <a:rPr lang="el-GR" sz="1200" b="1" dirty="0">
                <a:solidFill>
                  <a:srgbClr val="2DD4BF"/>
                </a:solidFill>
              </a:rPr>
              <a:t>USER</a:t>
            </a:r>
          </a:p>
          <a:p>
            <a:pPr algn="l">
              <a:buNone/>
            </a:pPr>
            <a:r>
              <a:rPr lang="el-GR" sz="1500" dirty="0">
                <a:solidFill>
                  <a:srgbClr val="FFFFFF"/>
                </a:solidFill>
              </a:rPr>
              <a:t>Υπάρχει χρέωση για Cloud Hosting σε αυτό το τιμολόγιο;</a:t>
            </a:r>
          </a:p>
        </p:txBody>
      </p:sp>
      <p:sp>
        <p:nvSpPr>
          <p:cNvPr id="504" name="a"/>
          <p:cNvSpPr/>
          <p:nvPr/>
        </p:nvSpPr>
        <p:spPr>
          <a:xfrm>
            <a:off x="762000" y="4457700"/>
            <a:ext cx="8128000" cy="1143000"/>
          </a:xfrm>
          <a:prstGeom prst="roundRect">
            <a:avLst>
              <a:gd name="adj" fmla="val 18000"/>
            </a:avLst>
          </a:prstGeom>
          <a:solidFill>
            <a:srgbClr val="13314D"/>
          </a:solidFill>
          <a:ln w="9525">
            <a:solidFill>
              <a:srgbClr val="F59E0B"/>
            </a:solidFill>
          </a:ln>
        </p:spPr>
        <p:txBody>
          <a:bodyPr wrap="square" lIns="177800" tIns="127000" rIns="177800" bIns="127000" anchor="t"/>
          <a:lstStyle/>
          <a:p>
            <a:pPr algn="l">
              <a:buNone/>
            </a:pPr>
            <a:r>
              <a:rPr lang="el-GR" sz="1200" b="1" dirty="0">
                <a:solidFill>
                  <a:srgbClr val="F59E0B"/>
                </a:solidFill>
              </a:rPr>
              <a:t>AI AGENT</a:t>
            </a:r>
          </a:p>
          <a:p>
            <a:pPr algn="l">
              <a:buNone/>
            </a:pPr>
            <a:r>
              <a:rPr lang="el-GR" sz="1500" dirty="0">
                <a:solidFill>
                  <a:srgbClr val="FFFFFF"/>
                </a:solidFill>
              </a:rPr>
              <a:t>Ναι, η χρέωση για Cloud Hosting είναι 800,00€. Δείτε απόσπασμα από το τιμολόγιο (bounding box).</a:t>
            </a:r>
          </a:p>
          <a:p>
            <a:pPr algn="l">
              <a:buNone/>
            </a:pPr>
            <a:r>
              <a:rPr lang="el-GR" sz="1200" i="1" dirty="0">
                <a:solidFill>
                  <a:srgbClr val="9FB6CC"/>
                </a:solidFill>
              </a:rPr>
              <a:t>Πηγή: TechCorp_Invoice_03.pdf · σελ. 1</a:t>
            </a:r>
          </a:p>
        </p:txBody>
      </p:sp>
      <p:sp>
        <p:nvSpPr>
          <p:cNvPr id="505" name="footer"/>
          <p:cNvSpPr/>
          <p:nvPr/>
        </p:nvSpPr>
        <p:spPr>
          <a:xfrm>
            <a:off x="762000" y="5816600"/>
            <a:ext cx="10668000" cy="508000"/>
          </a:xfrm>
          <a:prstGeom prst="roundRect">
            <a:avLst>
              <a:gd name="adj" fmla="val 30000"/>
            </a:avLst>
          </a:prstGeom>
          <a:solidFill>
            <a:srgbClr val="0B1E33"/>
          </a:solidFill>
          <a:ln w="9525">
            <a:solidFill>
              <a:srgbClr val="A78BFA"/>
            </a:solidFill>
          </a:ln>
        </p:spPr>
        <p:txBody>
          <a:bodyPr wrap="square" lIns="177800" tIns="76200" rIns="177800" bIns="76200" anchor="ctr"/>
          <a:lstStyle/>
          <a:p>
            <a:pPr algn="ctr">
              <a:buNone/>
            </a:pPr>
            <a:r>
              <a:rPr lang="el-GR" sz="1400" b="1" dirty="0">
                <a:solidFill>
                  <a:srgbClr val="A78BFA"/>
                </a:solidFill>
              </a:rPr>
              <a:t>Chat memory: </a:t>
            </a:r>
            <a:r>
              <a:rPr lang="el-GR" sz="1400" dirty="0">
                <a:solidFill>
                  <a:srgbClr val="E6EEF5"/>
                </a:solidFill>
              </a:rPr>
              <a:t>το «αυτό το τιμολόγιο» στη 2η ερώτηση αναφέρεται στο ίδιο έγγραφο — ο agent θυμάται το context.</a:t>
            </a:r>
          </a:p>
        </p:txBody>
      </p:sp>
    </p:spTree>
    <p:extLst>
      <p:ext uri="{BB962C8B-B14F-4D97-AF65-F5344CB8AC3E}">
        <p14:creationId xmlns:p14="http://schemas.microsoft.com/office/powerpoint/2010/main" val="12970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F7E551E-E43F-E579-7583-9A885AB8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Αξιολόγηση &amp; Μετρικές</a:t>
            </a:r>
          </a:p>
        </p:txBody>
      </p:sp>
      <p:sp>
        <p:nvSpPr>
          <p:cNvPr id="500" name="sub"/>
          <p:cNvSpPr txBox="1"/>
          <p:nvPr/>
        </p:nvSpPr>
        <p:spPr>
          <a:xfrm>
            <a:off x="762000" y="1498600"/>
            <a:ext cx="10668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l-GR" sz="1600" dirty="0">
                <a:solidFill>
                  <a:srgbClr val="2DD4BF"/>
                </a:solidFill>
              </a:rPr>
              <a:t>Πώς αποδεικνύουμε ότι ο agent απαντά σωστά</a:t>
            </a:r>
          </a:p>
        </p:txBody>
      </p:sp>
      <p:sp>
        <p:nvSpPr>
          <p:cNvPr id="501" name="m0"/>
          <p:cNvSpPr/>
          <p:nvPr/>
        </p:nvSpPr>
        <p:spPr>
          <a:xfrm>
            <a:off x="762000" y="1981200"/>
            <a:ext cx="2540000" cy="1397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9525">
            <a:solidFill>
              <a:srgbClr val="2DD4BF"/>
            </a:solidFill>
          </a:ln>
        </p:spPr>
        <p:txBody>
          <a:bodyPr wrap="square" lIns="152400" tIns="127000" rIns="152400" bIns="127000" anchor="ctr"/>
          <a:lstStyle/>
          <a:p>
            <a:pPr algn="ctr">
              <a:buNone/>
            </a:pPr>
            <a:r>
              <a:rPr lang="el-GR" sz="3600" b="1" dirty="0">
                <a:solidFill>
                  <a:srgbClr val="2DD4BF"/>
                </a:solidFill>
              </a:rPr>
              <a:t>92%</a:t>
            </a:r>
          </a:p>
          <a:p>
            <a:pPr algn="ctr">
              <a:buNone/>
            </a:pPr>
            <a:r>
              <a:rPr lang="el-GR" sz="1500" b="1" dirty="0">
                <a:solidFill>
                  <a:srgbClr val="FFFFFF"/>
                </a:solidFill>
              </a:rPr>
              <a:t>Accuracy</a:t>
            </a:r>
          </a:p>
          <a:p>
            <a:pPr algn="ctr">
              <a:buNone/>
            </a:pPr>
            <a:r>
              <a:rPr lang="el-GR" sz="1100" dirty="0">
                <a:solidFill>
                  <a:srgbClr val="9FB6CC"/>
                </a:solidFill>
              </a:rPr>
              <a:t>σωστές απαντήσεις σε golden set 50 Q&amp;A</a:t>
            </a:r>
          </a:p>
        </p:txBody>
      </p:sp>
      <p:sp>
        <p:nvSpPr>
          <p:cNvPr id="502" name="m1"/>
          <p:cNvSpPr/>
          <p:nvPr/>
        </p:nvSpPr>
        <p:spPr>
          <a:xfrm>
            <a:off x="3454400" y="1981200"/>
            <a:ext cx="2540000" cy="1397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9525">
            <a:solidFill>
              <a:srgbClr val="F59E0B"/>
            </a:solidFill>
          </a:ln>
        </p:spPr>
        <p:txBody>
          <a:bodyPr wrap="square" lIns="152400" tIns="127000" rIns="152400" bIns="127000" anchor="ctr"/>
          <a:lstStyle/>
          <a:p>
            <a:pPr algn="ctr">
              <a:buNone/>
            </a:pPr>
            <a:r>
              <a:rPr lang="el-GR" sz="3600" b="1" dirty="0">
                <a:solidFill>
                  <a:srgbClr val="F59E0B"/>
                </a:solidFill>
              </a:rPr>
              <a:t>&lt;2s</a:t>
            </a:r>
          </a:p>
          <a:p>
            <a:pPr algn="ctr">
              <a:buNone/>
            </a:pPr>
            <a:r>
              <a:rPr lang="el-GR" sz="1500" b="1" dirty="0">
                <a:solidFill>
                  <a:srgbClr val="FFFFFF"/>
                </a:solidFill>
              </a:rPr>
              <a:t>Latency</a:t>
            </a:r>
          </a:p>
          <a:p>
            <a:pPr algn="ctr">
              <a:buNone/>
            </a:pPr>
            <a:r>
              <a:rPr lang="el-GR" sz="1100" dirty="0">
                <a:solidFill>
                  <a:srgbClr val="9FB6CC"/>
                </a:solidFill>
              </a:rPr>
              <a:t>median end-to-end (retrieval + LLM)</a:t>
            </a:r>
          </a:p>
        </p:txBody>
      </p:sp>
      <p:sp>
        <p:nvSpPr>
          <p:cNvPr id="503" name="m2"/>
          <p:cNvSpPr/>
          <p:nvPr/>
        </p:nvSpPr>
        <p:spPr>
          <a:xfrm>
            <a:off x="6146800" y="1981200"/>
            <a:ext cx="2540000" cy="1397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9525">
            <a:solidFill>
              <a:srgbClr val="60A5FA"/>
            </a:solidFill>
          </a:ln>
        </p:spPr>
        <p:txBody>
          <a:bodyPr wrap="square" lIns="152400" tIns="127000" rIns="152400" bIns="127000" anchor="ctr"/>
          <a:lstStyle/>
          <a:p>
            <a:pPr algn="ctr">
              <a:buNone/>
            </a:pPr>
            <a:r>
              <a:rPr lang="el-GR" sz="3600" b="1" dirty="0">
                <a:solidFill>
                  <a:srgbClr val="60A5FA"/>
                </a:solidFill>
              </a:rPr>
              <a:t>100%</a:t>
            </a:r>
          </a:p>
          <a:p>
            <a:pPr algn="ctr">
              <a:buNone/>
            </a:pPr>
            <a:r>
              <a:rPr lang="el-GR" sz="1500" b="1" dirty="0">
                <a:solidFill>
                  <a:srgbClr val="FFFFFF"/>
                </a:solidFill>
              </a:rPr>
              <a:t>Grounding</a:t>
            </a:r>
          </a:p>
          <a:p>
            <a:pPr algn="ctr">
              <a:buNone/>
            </a:pPr>
            <a:r>
              <a:rPr lang="el-GR" sz="1100" dirty="0">
                <a:solidFill>
                  <a:srgbClr val="9FB6CC"/>
                </a:solidFill>
              </a:rPr>
              <a:t>κάθε απάντηση έχει citation σε έγγραφο</a:t>
            </a:r>
          </a:p>
        </p:txBody>
      </p:sp>
      <p:sp>
        <p:nvSpPr>
          <p:cNvPr id="504" name="m3"/>
          <p:cNvSpPr/>
          <p:nvPr/>
        </p:nvSpPr>
        <p:spPr>
          <a:xfrm>
            <a:off x="8839200" y="1981200"/>
            <a:ext cx="2540000" cy="1397000"/>
          </a:xfrm>
          <a:prstGeom prst="roundRect">
            <a:avLst>
              <a:gd name="adj" fmla="val 12000"/>
            </a:avLst>
          </a:prstGeom>
          <a:solidFill>
            <a:srgbClr val="13314D"/>
          </a:solidFill>
          <a:ln w="9525">
            <a:solidFill>
              <a:srgbClr val="A78BFA"/>
            </a:solidFill>
          </a:ln>
        </p:spPr>
        <p:txBody>
          <a:bodyPr wrap="square" lIns="152400" tIns="127000" rIns="152400" bIns="127000" anchor="ctr"/>
          <a:lstStyle/>
          <a:p>
            <a:pPr algn="ctr">
              <a:buNone/>
            </a:pPr>
            <a:r>
              <a:rPr lang="el-GR" sz="3600" b="1" dirty="0">
                <a:solidFill>
                  <a:srgbClr val="A78BFA"/>
                </a:solidFill>
              </a:rPr>
              <a:t>0</a:t>
            </a:r>
          </a:p>
          <a:p>
            <a:pPr algn="ctr">
              <a:buNone/>
            </a:pPr>
            <a:r>
              <a:rPr lang="el-GR" sz="1500" b="1" dirty="0">
                <a:solidFill>
                  <a:srgbClr val="FFFFFF"/>
                </a:solidFill>
              </a:rPr>
              <a:t>Hallucinations</a:t>
            </a:r>
          </a:p>
          <a:p>
            <a:pPr algn="ctr">
              <a:buNone/>
            </a:pPr>
            <a:r>
              <a:rPr lang="el-GR" sz="1100" dirty="0">
                <a:solidFill>
                  <a:srgbClr val="9FB6CC"/>
                </a:solidFill>
              </a:rPr>
              <a:t>«δεν γνωρίζω» όταν δεν υπάρχει στα docs</a:t>
            </a:r>
          </a:p>
        </p:txBody>
      </p:sp>
      <p:sp>
        <p:nvSpPr>
          <p:cNvPr id="505" name="evalbox"/>
          <p:cNvSpPr/>
          <p:nvPr/>
        </p:nvSpPr>
        <p:spPr>
          <a:xfrm>
            <a:off x="762000" y="3683000"/>
            <a:ext cx="10668000" cy="2514600"/>
          </a:xfrm>
          <a:prstGeom prst="roundRect">
            <a:avLst>
              <a:gd name="adj" fmla="val 8000"/>
            </a:avLst>
          </a:prstGeom>
          <a:solidFill>
            <a:srgbClr val="0B1E33"/>
          </a:solidFill>
          <a:ln w="9525">
            <a:solidFill>
              <a:srgbClr val="1E4368"/>
            </a:solidFill>
          </a:ln>
        </p:spPr>
        <p:txBody>
          <a:bodyPr wrap="square" lIns="279400" tIns="203200" rIns="279400" bIns="203200" anchor="t"/>
          <a:lstStyle/>
          <a:p>
            <a:pPr algn="l">
              <a:buNone/>
            </a:pPr>
            <a:r>
              <a:rPr lang="el-GR" sz="1800" b="1" dirty="0">
                <a:solidFill>
                  <a:srgbClr val="F59E0B"/>
                </a:solidFill>
              </a:rPr>
              <a:t>Μεθοδολογία αξιολόγησης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l-GR" sz="1500" b="1" dirty="0">
                <a:solidFill>
                  <a:srgbClr val="2DD4BF"/>
                </a:solidFill>
              </a:rPr>
              <a:t>Golden Set: </a:t>
            </a:r>
            <a:r>
              <a:rPr lang="el-GR" sz="1500" dirty="0">
                <a:solidFill>
                  <a:srgbClr val="E6EEF5"/>
                </a:solidFill>
              </a:rPr>
              <a:t>50 ζεύγη ερωτήσεων–απαντήσεων με γνωστή ground truth από τα dummy τιμολόγια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l-GR" sz="1500" b="1" dirty="0">
                <a:solidFill>
                  <a:srgbClr val="2DD4BF"/>
                </a:solidFill>
              </a:rPr>
              <a:t>Faithfulness check: </a:t>
            </a:r>
            <a:r>
              <a:rPr lang="el-GR" sz="1500" dirty="0">
                <a:solidFill>
                  <a:srgbClr val="E6EEF5"/>
                </a:solidFill>
              </a:rPr>
              <a:t>LLM-as-judge επιβεβαιώνει ότι κάθε απάντηση τεκμηριώνεται από τα retrieved chunks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l-GR" sz="1500" b="1" dirty="0">
                <a:solidFill>
                  <a:srgbClr val="2DD4BF"/>
                </a:solidFill>
              </a:rPr>
              <a:t>Out-of-scope test: </a:t>
            </a:r>
            <a:r>
              <a:rPr lang="el-GR" sz="1500" dirty="0">
                <a:solidFill>
                  <a:srgbClr val="E6EEF5"/>
                </a:solidFill>
              </a:rPr>
              <a:t>ερωτήσεις εκτός δεδομένων → ο agent πρέπει να αρνείται, όχι να απαντάει βάσει υποθέσεων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l-GR" sz="1500" b="1" dirty="0">
                <a:solidFill>
                  <a:srgbClr val="2DD4BF"/>
                </a:solidFill>
              </a:rPr>
              <a:t>Token tracking: </a:t>
            </a:r>
            <a:r>
              <a:rPr lang="el-GR" sz="1500" dirty="0">
                <a:solidFill>
                  <a:srgbClr val="E6EEF5"/>
                </a:solidFill>
              </a:rPr>
              <a:t>καταγραφή tokens / κόστος ανά query για production planning</a:t>
            </a:r>
          </a:p>
        </p:txBody>
      </p:sp>
    </p:spTree>
    <p:extLst>
      <p:ext uri="{BB962C8B-B14F-4D97-AF65-F5344CB8AC3E}">
        <p14:creationId xmlns:p14="http://schemas.microsoft.com/office/powerpoint/2010/main" val="142012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EDFB083-6F56-7901-83F2-9B426CFC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l-GR" sz="3600" b="1" dirty="0">
                <a:solidFill>
                  <a:srgbClr val="FFFFFF"/>
                </a:solidFill>
              </a:rPr>
              <a:t>Tech Stack &amp; Επόμενα Βήματα</a:t>
            </a:r>
          </a:p>
        </p:txBody>
      </p:sp>
      <p:sp>
        <p:nvSpPr>
          <p:cNvPr id="1001" name="card1001"/>
          <p:cNvSpPr/>
          <p:nvPr/>
        </p:nvSpPr>
        <p:spPr>
          <a:xfrm>
            <a:off x="635000" y="19685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2DD4BF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1002" name="txt1002"/>
          <p:cNvSpPr txBox="1"/>
          <p:nvPr/>
        </p:nvSpPr>
        <p:spPr>
          <a:xfrm>
            <a:off x="863600" y="19685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b="1" dirty="0">
                <a:solidFill>
                  <a:srgbClr val="2DD4BF"/>
                </a:solidFill>
              </a:rPr>
              <a:t>Frontend</a:t>
            </a:r>
          </a:p>
        </p:txBody>
      </p:sp>
      <p:sp>
        <p:nvSpPr>
          <p:cNvPr id="1003" name="tag1003"/>
          <p:cNvSpPr/>
          <p:nvPr/>
        </p:nvSpPr>
        <p:spPr>
          <a:xfrm>
            <a:off x="2857500" y="2146300"/>
            <a:ext cx="99695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Streamlit</a:t>
            </a:r>
          </a:p>
        </p:txBody>
      </p:sp>
      <p:sp>
        <p:nvSpPr>
          <p:cNvPr id="1004" name="tag1004"/>
          <p:cNvSpPr/>
          <p:nvPr/>
        </p:nvSpPr>
        <p:spPr>
          <a:xfrm>
            <a:off x="3956050" y="2146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Flask</a:t>
            </a:r>
          </a:p>
        </p:txBody>
      </p:sp>
      <p:sp>
        <p:nvSpPr>
          <p:cNvPr id="1005" name="card1005"/>
          <p:cNvSpPr/>
          <p:nvPr/>
        </p:nvSpPr>
        <p:spPr>
          <a:xfrm>
            <a:off x="635000" y="27051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F59E0B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1006" name="txt1006"/>
          <p:cNvSpPr txBox="1"/>
          <p:nvPr/>
        </p:nvSpPr>
        <p:spPr>
          <a:xfrm>
            <a:off x="863600" y="27051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b="1" dirty="0">
                <a:solidFill>
                  <a:srgbClr val="F59E0B"/>
                </a:solidFill>
              </a:rPr>
              <a:t>OCR / Parsing</a:t>
            </a:r>
          </a:p>
        </p:txBody>
      </p:sp>
      <p:sp>
        <p:nvSpPr>
          <p:cNvPr id="1007" name="tag1007"/>
          <p:cNvSpPr/>
          <p:nvPr/>
        </p:nvSpPr>
        <p:spPr>
          <a:xfrm>
            <a:off x="2857500" y="2882900"/>
            <a:ext cx="99695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Tesseract</a:t>
            </a:r>
          </a:p>
        </p:txBody>
      </p:sp>
      <p:sp>
        <p:nvSpPr>
          <p:cNvPr id="1008" name="tag1008"/>
          <p:cNvSpPr/>
          <p:nvPr/>
        </p:nvSpPr>
        <p:spPr>
          <a:xfrm>
            <a:off x="3956050" y="28829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AWS Textract</a:t>
            </a:r>
          </a:p>
        </p:txBody>
      </p:sp>
      <p:sp>
        <p:nvSpPr>
          <p:cNvPr id="1009" name="tag1009"/>
          <p:cNvSpPr/>
          <p:nvPr/>
        </p:nvSpPr>
        <p:spPr>
          <a:xfrm>
            <a:off x="5302250" y="2882900"/>
            <a:ext cx="83185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PyMuPDF</a:t>
            </a:r>
          </a:p>
        </p:txBody>
      </p:sp>
      <p:sp>
        <p:nvSpPr>
          <p:cNvPr id="1010" name="card1010"/>
          <p:cNvSpPr/>
          <p:nvPr/>
        </p:nvSpPr>
        <p:spPr>
          <a:xfrm>
            <a:off x="635000" y="34417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60A5FA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1011" name="txt1011"/>
          <p:cNvSpPr txBox="1"/>
          <p:nvPr/>
        </p:nvSpPr>
        <p:spPr>
          <a:xfrm>
            <a:off x="863600" y="34417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b="1" dirty="0">
                <a:solidFill>
                  <a:srgbClr val="60A5FA"/>
                </a:solidFill>
              </a:rPr>
              <a:t>Embeddings</a:t>
            </a:r>
          </a:p>
        </p:txBody>
      </p:sp>
      <p:sp>
        <p:nvSpPr>
          <p:cNvPr id="1012" name="tag1012"/>
          <p:cNvSpPr/>
          <p:nvPr/>
        </p:nvSpPr>
        <p:spPr>
          <a:xfrm>
            <a:off x="2857500" y="3619500"/>
            <a:ext cx="116205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HuggingFace</a:t>
            </a:r>
          </a:p>
        </p:txBody>
      </p:sp>
      <p:sp>
        <p:nvSpPr>
          <p:cNvPr id="1013" name="tag1013"/>
          <p:cNvSpPr/>
          <p:nvPr/>
        </p:nvSpPr>
        <p:spPr>
          <a:xfrm>
            <a:off x="4121150" y="3619500"/>
            <a:ext cx="165735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OpenAI Embeddings</a:t>
            </a:r>
          </a:p>
        </p:txBody>
      </p:sp>
      <p:sp>
        <p:nvSpPr>
          <p:cNvPr id="1014" name="card1014"/>
          <p:cNvSpPr/>
          <p:nvPr/>
        </p:nvSpPr>
        <p:spPr>
          <a:xfrm>
            <a:off x="635000" y="41783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A78BFA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1015" name="txt1015"/>
          <p:cNvSpPr txBox="1"/>
          <p:nvPr/>
        </p:nvSpPr>
        <p:spPr>
          <a:xfrm>
            <a:off x="863600" y="41783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b="1" dirty="0">
                <a:solidFill>
                  <a:srgbClr val="A78BFA"/>
                </a:solidFill>
              </a:rPr>
              <a:t>Vector Store</a:t>
            </a:r>
          </a:p>
        </p:txBody>
      </p:sp>
      <p:sp>
        <p:nvSpPr>
          <p:cNvPr id="1016" name="tag1016"/>
          <p:cNvSpPr/>
          <p:nvPr/>
        </p:nvSpPr>
        <p:spPr>
          <a:xfrm>
            <a:off x="2857500" y="4356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FAISS</a:t>
            </a:r>
          </a:p>
        </p:txBody>
      </p:sp>
      <p:sp>
        <p:nvSpPr>
          <p:cNvPr id="1017" name="tag1017"/>
          <p:cNvSpPr/>
          <p:nvPr/>
        </p:nvSpPr>
        <p:spPr>
          <a:xfrm>
            <a:off x="3721100" y="4356100"/>
            <a:ext cx="91440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ChromaDB</a:t>
            </a:r>
          </a:p>
        </p:txBody>
      </p:sp>
      <p:sp>
        <p:nvSpPr>
          <p:cNvPr id="1018" name="card1018"/>
          <p:cNvSpPr/>
          <p:nvPr/>
        </p:nvSpPr>
        <p:spPr>
          <a:xfrm>
            <a:off x="635000" y="49149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3314D"/>
          </a:solidFill>
          <a:ln w="12700">
            <a:solidFill>
              <a:srgbClr val="34D399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1019" name="txt1019"/>
          <p:cNvSpPr txBox="1"/>
          <p:nvPr/>
        </p:nvSpPr>
        <p:spPr>
          <a:xfrm>
            <a:off x="863600" y="49149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500" b="1" dirty="0">
                <a:solidFill>
                  <a:srgbClr val="34D399"/>
                </a:solidFill>
              </a:rPr>
              <a:t>LLM</a:t>
            </a:r>
          </a:p>
        </p:txBody>
      </p:sp>
      <p:sp>
        <p:nvSpPr>
          <p:cNvPr id="1020" name="tag1020"/>
          <p:cNvSpPr/>
          <p:nvPr/>
        </p:nvSpPr>
        <p:spPr>
          <a:xfrm>
            <a:off x="2857500" y="5092700"/>
            <a:ext cx="116205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ChatGPT API</a:t>
            </a:r>
          </a:p>
        </p:txBody>
      </p:sp>
      <p:sp>
        <p:nvSpPr>
          <p:cNvPr id="1021" name="tag1021"/>
          <p:cNvSpPr/>
          <p:nvPr/>
        </p:nvSpPr>
        <p:spPr>
          <a:xfrm>
            <a:off x="4121150" y="5092700"/>
            <a:ext cx="99695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Vertex AI</a:t>
            </a:r>
          </a:p>
        </p:txBody>
      </p:sp>
      <p:sp>
        <p:nvSpPr>
          <p:cNvPr id="1022" name="tag1022"/>
          <p:cNvSpPr/>
          <p:nvPr/>
        </p:nvSpPr>
        <p:spPr>
          <a:xfrm>
            <a:off x="5219700" y="5092700"/>
            <a:ext cx="1409700" cy="279400"/>
          </a:xfrm>
          <a:prstGeom prst="roundRect">
            <a:avLst>
              <a:gd name="adj" fmla="val 50000"/>
            </a:avLst>
          </a:prstGeom>
          <a:solidFill>
            <a:srgbClr val="1B3D5C"/>
          </a:solidFill>
          <a:ln>
            <a:noFill/>
          </a:ln>
        </p:spPr>
        <p:txBody>
          <a:bodyPr wrap="none" lIns="45720" tIns="18000" rIns="45720" bIns="18000" anchor="ctr"/>
          <a:lstStyle/>
          <a:p>
            <a:pPr algn="ctr">
              <a:buNone/>
            </a:pPr>
            <a:r>
              <a:rPr lang="el-GR" sz="1200" b="1" dirty="0">
                <a:solidFill>
                  <a:srgbClr val="E6EEF5"/>
                </a:solidFill>
              </a:rPr>
              <a:t>Ollama (local)</a:t>
            </a:r>
          </a:p>
        </p:txBody>
      </p:sp>
      <p:sp>
        <p:nvSpPr>
          <p:cNvPr id="1023" name="card1023"/>
          <p:cNvSpPr/>
          <p:nvPr/>
        </p:nvSpPr>
        <p:spPr>
          <a:xfrm>
            <a:off x="8001000" y="1968500"/>
            <a:ext cx="3556000" cy="3581400"/>
          </a:xfrm>
          <a:prstGeom prst="roundRect">
            <a:avLst>
              <a:gd name="adj" fmla="val 8000"/>
            </a:avLst>
          </a:prstGeom>
          <a:solidFill>
            <a:srgbClr val="0F4B47"/>
          </a:solidFill>
          <a:ln w="12700">
            <a:solidFill>
              <a:srgbClr val="2DD4BF"/>
            </a:solidFill>
          </a:ln>
        </p:spPr>
        <p:txBody>
          <a:bodyPr anchor="ctr"/>
          <a:lstStyle/>
          <a:p>
            <a:endParaRPr lang="el-GR"/>
          </a:p>
        </p:txBody>
      </p:sp>
      <p:sp>
        <p:nvSpPr>
          <p:cNvPr id="1024" name="txt1024"/>
          <p:cNvSpPr txBox="1"/>
          <p:nvPr/>
        </p:nvSpPr>
        <p:spPr>
          <a:xfrm>
            <a:off x="8305800" y="2349500"/>
            <a:ext cx="2946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2400" b="1" dirty="0">
                <a:solidFill>
                  <a:srgbClr val="2DD4BF"/>
                </a:solidFill>
              </a:rPr>
              <a:t>Έτοιμοι;</a:t>
            </a:r>
          </a:p>
        </p:txBody>
      </p:sp>
      <p:sp>
        <p:nvSpPr>
          <p:cNvPr id="1025" name="txt1025"/>
          <p:cNvSpPr txBox="1"/>
          <p:nvPr/>
        </p:nvSpPr>
        <p:spPr>
          <a:xfrm>
            <a:off x="8305800" y="3111500"/>
            <a:ext cx="29464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l-GR" sz="1400" dirty="0">
                <a:solidFill>
                  <a:srgbClr val="E6EEF5"/>
                </a:solidFill>
              </a:rPr>
              <a:t>Συνδυάστε OCR, embeddings &amp; RAG για ένα production-ready AI agent.</a:t>
            </a:r>
          </a:p>
        </p:txBody>
      </p:sp>
      <p:sp>
        <p:nvSpPr>
          <p:cNvPr id="1026" name="txt1026"/>
          <p:cNvSpPr txBox="1"/>
          <p:nvPr/>
        </p:nvSpPr>
        <p:spPr>
          <a:xfrm>
            <a:off x="8305800" y="4064000"/>
            <a:ext cx="29464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l-GR" sz="1300" dirty="0">
                <a:solidFill>
                  <a:srgbClr val="9FB6CC"/>
                </a:solidFill>
              </a:rPr>
              <a:t>✓ Strict grounding — μηδέν hallucinations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l-GR" sz="1300" dirty="0">
                <a:solidFill>
                  <a:srgbClr val="9FB6CC"/>
                </a:solidFill>
              </a:rPr>
              <a:t>✓ Citations σε κάθε απάντηση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l-GR" sz="1300" dirty="0">
                <a:solidFill>
                  <a:srgbClr val="9FB6CC"/>
                </a:solidFill>
              </a:rPr>
              <a:t>✓ Bounding boxes &amp; bank reconciliation</a:t>
            </a:r>
          </a:p>
        </p:txBody>
      </p:sp>
      <p:sp>
        <p:nvSpPr>
          <p:cNvPr id="1027" name="txt1027"/>
          <p:cNvSpPr txBox="1"/>
          <p:nvPr/>
        </p:nvSpPr>
        <p:spPr>
          <a:xfrm>
            <a:off x="635000" y="6223000"/>
            <a:ext cx="1092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l-GR" sz="1400" i="1" dirty="0">
                <a:solidFill>
                  <a:srgbClr val="9FB6CC"/>
                </a:solidFill>
              </a:rPr>
              <a:t>FinDoc AI · Hackathon Pitch · Time to build</a:t>
            </a:r>
          </a:p>
        </p:txBody>
      </p:sp>
    </p:spTree>
    <p:extLst>
      <p:ext uri="{BB962C8B-B14F-4D97-AF65-F5344CB8AC3E}">
        <p14:creationId xmlns:p14="http://schemas.microsoft.com/office/powerpoint/2010/main" val="732841158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 [1778763382123]">
  <a:themeElements>
    <a:clrScheme name="Office">
      <a:dk1>
        <a:srgbClr val="FFFFFF"/>
      </a:dk1>
      <a:lt1>
        <a:srgbClr val="0B1B2B"/>
      </a:lt1>
      <a:dk2>
        <a:srgbClr val="0B1B2B"/>
      </a:dk2>
      <a:lt2>
        <a:srgbClr val="E6EEF5"/>
      </a:lt2>
      <a:accent1>
        <a:srgbClr val="2DD4BF"/>
      </a:accent1>
      <a:accent2>
        <a:srgbClr val="F59E0B"/>
      </a:accent2>
      <a:accent3>
        <a:srgbClr val="60A5FA"/>
      </a:accent3>
      <a:accent4>
        <a:srgbClr val="A78BFA"/>
      </a:accent4>
      <a:accent5>
        <a:srgbClr val="F87171"/>
      </a:accent5>
      <a:accent6>
        <a:srgbClr val="34D399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09D10E-4AD0-4995-BE5E-0779B38D3957}">
  <we:reference id="wa200010725" version="1.0.0.1" store="el-GR" storeType="OMEX"/>
  <we:alternateReferences>
    <we:reference id="wa200010725" version="1.0.0.1" store="wa200010725" storeType="OMEX"/>
  </we:alternateReferences>
  <we:properties>
    <we:property name="claude.fileId" value="&quot;871df78c-e6a6-4331-b188-db390a59ff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846</Words>
  <Application>Microsoft Office PowerPoint</Application>
  <PresentationFormat>Ευρεία οθόνη</PresentationFormat>
  <Paragraphs>142</Paragraphs>
  <Slides>11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Open Sans</vt:lpstr>
      <vt:lpstr>Θέμα του Office [1778763382123]</vt:lpstr>
      <vt:lpstr>FinDoc AI</vt:lpstr>
      <vt:lpstr>Ποιοι είμαστε · CloudFin</vt:lpstr>
      <vt:lpstr>Το Πρόβλημα</vt:lpstr>
      <vt:lpstr>Η Λύση μας</vt:lpstr>
      <vt:lpstr>Αρχιτεκτονική</vt:lpstr>
      <vt:lpstr>Πώς δουλεύει το RAG</vt:lpstr>
      <vt:lpstr>Όχι Ψευδαισθήσεις</vt:lpstr>
      <vt:lpstr>Bonus Features</vt:lpstr>
      <vt:lpstr>Demo · Παράδειγμα Q&amp;A</vt:lpstr>
      <vt:lpstr>Αξιολόγηση &amp; Μετρικές</vt:lpstr>
      <vt:lpstr>Tech Stack &amp; Επόμενα Βήματα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Nikos Avgeros</dc:creator>
  <cp:lastModifiedBy>Nikos Avgeros</cp:lastModifiedBy>
  <cp:revision>9</cp:revision>
  <dcterms:created xsi:type="dcterms:W3CDTF">2026-05-14T12:56:22Z</dcterms:created>
  <dcterms:modified xsi:type="dcterms:W3CDTF">2026-05-15T08:20:09Z</dcterms:modified>
</cp:coreProperties>
</file>